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League Spartan" charset="1" panose="00000800000000000000"/>
      <p:regular r:id="rId18"/>
    </p:embeddedFont>
    <p:embeddedFont>
      <p:font typeface="Muli Bold" charset="1" panose="00000800000000000000"/>
      <p:regular r:id="rId19"/>
    </p:embeddedFont>
    <p:embeddedFont>
      <p:font typeface="Muli" charset="1" panose="00000500000000000000"/>
      <p:regular r:id="rId20"/>
    </p:embeddedFont>
    <p:embeddedFont>
      <p:font typeface="Noto Sans" charset="1" panose="020B0502040504020204"/>
      <p:regular r:id="rId21"/>
    </p:embeddedFont>
    <p:embeddedFont>
      <p:font typeface="Arial Nova Bold" charset="1" panose="020B0804020202020204"/>
      <p:regular r:id="rId22"/>
    </p:embeddedFont>
    <p:embeddedFont>
      <p:font typeface="Arial" charset="1" panose="020B0604020202020204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3086100"/>
            <a:chOff x="0" y="0"/>
            <a:chExt cx="4816593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812800"/>
            </a:xfrm>
            <a:custGeom>
              <a:avLst/>
              <a:gdLst/>
              <a:ahLst/>
              <a:cxnLst/>
              <a:rect r="r" b="b" t="t" l="l"/>
              <a:pathLst>
                <a:path h="81280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7223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8604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686260" y="248955"/>
            <a:ext cx="2260741" cy="2588190"/>
          </a:xfrm>
          <a:custGeom>
            <a:avLst/>
            <a:gdLst/>
            <a:ahLst/>
            <a:cxnLst/>
            <a:rect r="r" b="b" t="t" l="l"/>
            <a:pathLst>
              <a:path h="2588190" w="2260741">
                <a:moveTo>
                  <a:pt x="0" y="0"/>
                </a:moveTo>
                <a:lnTo>
                  <a:pt x="2260740" y="0"/>
                </a:lnTo>
                <a:lnTo>
                  <a:pt x="2260740" y="2588190"/>
                </a:lnTo>
                <a:lnTo>
                  <a:pt x="0" y="25881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5450205" y="442846"/>
            <a:ext cx="2200409" cy="2200409"/>
          </a:xfrm>
          <a:custGeom>
            <a:avLst/>
            <a:gdLst/>
            <a:ahLst/>
            <a:cxnLst/>
            <a:rect r="r" b="b" t="t" l="l"/>
            <a:pathLst>
              <a:path h="2200409" w="2200409">
                <a:moveTo>
                  <a:pt x="0" y="0"/>
                </a:moveTo>
                <a:lnTo>
                  <a:pt x="2200409" y="0"/>
                </a:lnTo>
                <a:lnTo>
                  <a:pt x="2200409" y="2200408"/>
                </a:lnTo>
                <a:lnTo>
                  <a:pt x="0" y="22004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28700" y="442846"/>
            <a:ext cx="2187532" cy="2166991"/>
          </a:xfrm>
          <a:custGeom>
            <a:avLst/>
            <a:gdLst/>
            <a:ahLst/>
            <a:cxnLst/>
            <a:rect r="r" b="b" t="t" l="l"/>
            <a:pathLst>
              <a:path h="2166991" w="2187532">
                <a:moveTo>
                  <a:pt x="0" y="0"/>
                </a:moveTo>
                <a:lnTo>
                  <a:pt x="2187532" y="0"/>
                </a:lnTo>
                <a:lnTo>
                  <a:pt x="2187532" y="2166991"/>
                </a:lnTo>
                <a:lnTo>
                  <a:pt x="0" y="216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51137" y="4119245"/>
            <a:ext cx="14385727" cy="1616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EEG Analysis with MNE Sample Dataset</a:t>
            </a:r>
          </a:p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3600" i="tru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Progress Report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675709" y="6006174"/>
            <a:ext cx="6936581" cy="12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360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Topic 10</a:t>
            </a:r>
          </a:p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b="true" sz="3400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Presenter: Nguyen Do Anh Duong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837795" y="7848309"/>
            <a:ext cx="12612410" cy="895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Muli"/>
                <a:ea typeface="Muli"/>
                <a:cs typeface="Muli"/>
                <a:sym typeface="Muli"/>
              </a:rPr>
              <a:t>Members: Tran Ngoc Mai, Nguyen Do Anh Duong, Bui Phuong Thao, Nguyen Ha Vy</a:t>
            </a:r>
          </a:p>
          <a:p>
            <a:pPr algn="ctr">
              <a:lnSpc>
                <a:spcPts val="3640"/>
              </a:lnSpc>
              <a:spcBef>
                <a:spcPct val="0"/>
              </a:spcBef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1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0" y="9775281"/>
            <a:ext cx="18288000" cy="725646"/>
            <a:chOff x="0" y="0"/>
            <a:chExt cx="4816593" cy="19111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816592" cy="191117"/>
            </a:xfrm>
            <a:custGeom>
              <a:avLst/>
              <a:gdLst/>
              <a:ahLst/>
              <a:cxnLst/>
              <a:rect r="r" b="b" t="t" l="l"/>
              <a:pathLst>
                <a:path h="19111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1117"/>
                  </a:lnTo>
                  <a:lnTo>
                    <a:pt x="0" y="191117"/>
                  </a:lnTo>
                  <a:close/>
                </a:path>
              </a:pathLst>
            </a:custGeom>
            <a:solidFill>
              <a:srgbClr val="07223B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4816593" cy="238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346749" y="1607459"/>
            <a:ext cx="9594503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Table of content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535953"/>
            <a:ext cx="16230600" cy="74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sz="4399" b="true">
                <a:solidFill>
                  <a:srgbClr val="000000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A. Previous Week Summary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4644687"/>
            <a:ext cx="16230600" cy="745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60"/>
              </a:lnSpc>
            </a:pPr>
            <a:r>
              <a:rPr lang="en-US" sz="4400" b="true">
                <a:solidFill>
                  <a:srgbClr val="000000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B. Progress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5753420"/>
            <a:ext cx="16230600" cy="745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60"/>
              </a:lnSpc>
            </a:pPr>
            <a:r>
              <a:rPr lang="en-US" sz="4400" b="true">
                <a:solidFill>
                  <a:srgbClr val="000000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C. Conclusion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0" y="9775281"/>
            <a:ext cx="18288000" cy="725646"/>
            <a:chOff x="0" y="0"/>
            <a:chExt cx="4816593" cy="19111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816592" cy="191117"/>
            </a:xfrm>
            <a:custGeom>
              <a:avLst/>
              <a:gdLst/>
              <a:ahLst/>
              <a:cxnLst/>
              <a:rect r="r" b="b" t="t" l="l"/>
              <a:pathLst>
                <a:path h="19111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1117"/>
                  </a:lnTo>
                  <a:lnTo>
                    <a:pt x="0" y="191117"/>
                  </a:lnTo>
                  <a:close/>
                </a:path>
              </a:pathLst>
            </a:custGeom>
            <a:solidFill>
              <a:srgbClr val="07223B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4816593" cy="238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775281"/>
            <a:ext cx="18288000" cy="725646"/>
            <a:chOff x="0" y="0"/>
            <a:chExt cx="4816593" cy="19111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191117"/>
            </a:xfrm>
            <a:custGeom>
              <a:avLst/>
              <a:gdLst/>
              <a:ahLst/>
              <a:cxnLst/>
              <a:rect r="r" b="b" t="t" l="l"/>
              <a:pathLst>
                <a:path h="19111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1117"/>
                  </a:lnTo>
                  <a:lnTo>
                    <a:pt x="0" y="191117"/>
                  </a:lnTo>
                  <a:close/>
                </a:path>
              </a:pathLst>
            </a:custGeom>
            <a:solidFill>
              <a:srgbClr val="07223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238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692004" y="1613850"/>
            <a:ext cx="19672009" cy="10049024"/>
            <a:chOff x="0" y="0"/>
            <a:chExt cx="5181105" cy="264665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181105" cy="2646657"/>
            </a:xfrm>
            <a:custGeom>
              <a:avLst/>
              <a:gdLst/>
              <a:ahLst/>
              <a:cxnLst/>
              <a:rect r="r" b="b" t="t" l="l"/>
              <a:pathLst>
                <a:path h="2646657" w="5181105">
                  <a:moveTo>
                    <a:pt x="0" y="0"/>
                  </a:moveTo>
                  <a:lnTo>
                    <a:pt x="5181105" y="0"/>
                  </a:lnTo>
                  <a:lnTo>
                    <a:pt x="5181105" y="2646657"/>
                  </a:lnTo>
                  <a:lnTo>
                    <a:pt x="0" y="2646657"/>
                  </a:lnTo>
                  <a:close/>
                </a:path>
              </a:pathLst>
            </a:custGeom>
            <a:ln w="85725" cap="sq">
              <a:solidFill>
                <a:srgbClr val="000000"/>
              </a:solidFill>
              <a:prstDash val="lgDash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5181105" cy="26942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8700" y="759724"/>
            <a:ext cx="12503813" cy="1686167"/>
            <a:chOff x="0" y="0"/>
            <a:chExt cx="3293185" cy="44409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93185" cy="444093"/>
            </a:xfrm>
            <a:custGeom>
              <a:avLst/>
              <a:gdLst/>
              <a:ahLst/>
              <a:cxnLst/>
              <a:rect r="r" b="b" t="t" l="l"/>
              <a:pathLst>
                <a:path h="444093" w="3293185">
                  <a:moveTo>
                    <a:pt x="0" y="0"/>
                  </a:moveTo>
                  <a:lnTo>
                    <a:pt x="3293185" y="0"/>
                  </a:lnTo>
                  <a:lnTo>
                    <a:pt x="3293185" y="444093"/>
                  </a:lnTo>
                  <a:lnTo>
                    <a:pt x="0" y="444093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lgDash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3293185" cy="4917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273808" y="3422650"/>
            <a:ext cx="16377323" cy="77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60"/>
              </a:lnSpc>
            </a:pP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Intr</a:t>
            </a: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od</a:t>
            </a: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uc</a:t>
            </a: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 the EEG-Eye Tracking dataset</a:t>
            </a:r>
          </a:p>
          <a:p>
            <a:pPr algn="l">
              <a:lnSpc>
                <a:spcPts val="6160"/>
              </a:lnSpc>
            </a:pP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Explained the experimental setup</a:t>
            </a:r>
          </a:p>
          <a:p>
            <a:pPr algn="l">
              <a:lnSpc>
                <a:spcPts val="6160"/>
              </a:lnSpc>
            </a:pP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Scree</a:t>
            </a: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 </a:t>
            </a: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</a:t>
            </a: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stimulation</a:t>
            </a:r>
          </a:p>
          <a:p>
            <a:pPr algn="l">
              <a:lnSpc>
                <a:spcPts val="6160"/>
              </a:lnSpc>
            </a:pP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Eye-tracking (pupil size)</a:t>
            </a:r>
          </a:p>
          <a:p>
            <a:pPr algn="l">
              <a:lnSpc>
                <a:spcPts val="6160"/>
              </a:lnSpc>
            </a:pP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EEG recording</a:t>
            </a:r>
          </a:p>
          <a:p>
            <a:pPr algn="l">
              <a:lnSpc>
                <a:spcPts val="6160"/>
              </a:lnSpc>
            </a:pP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Demonstrated how to load and visualize the data using MNE-Python</a:t>
            </a:r>
          </a:p>
          <a:p>
            <a:pPr algn="l">
              <a:lnSpc>
                <a:spcPts val="6160"/>
              </a:lnSpc>
            </a:pP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Showed basic raw signal plots</a:t>
            </a:r>
          </a:p>
          <a:p>
            <a:pPr algn="l">
              <a:lnSpc>
                <a:spcPts val="6160"/>
              </a:lnSpc>
            </a:pPr>
          </a:p>
          <a:p>
            <a:pPr algn="l">
              <a:lnSpc>
                <a:spcPts val="6160"/>
              </a:lnSpc>
            </a:pPr>
          </a:p>
          <a:p>
            <a:pPr algn="l">
              <a:lnSpc>
                <a:spcPts val="6160"/>
              </a:lnSpc>
            </a:pP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8616167" y="8487582"/>
            <a:ext cx="1055667" cy="1055667"/>
          </a:xfrm>
          <a:custGeom>
            <a:avLst/>
            <a:gdLst/>
            <a:ahLst/>
            <a:cxnLst/>
            <a:rect r="r" b="b" t="t" l="l"/>
            <a:pathLst>
              <a:path h="1055667" w="1055667">
                <a:moveTo>
                  <a:pt x="0" y="0"/>
                </a:moveTo>
                <a:lnTo>
                  <a:pt x="1055666" y="0"/>
                </a:lnTo>
                <a:lnTo>
                  <a:pt x="1055666" y="1055667"/>
                </a:lnTo>
                <a:lnTo>
                  <a:pt x="0" y="1055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892093" y="1266091"/>
            <a:ext cx="12503813" cy="7972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16"/>
              </a:lnSpc>
            </a:pPr>
            <a:r>
              <a:rPr lang="en-US" sz="609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Previous Week Summary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50364" y="1105659"/>
            <a:ext cx="2656876" cy="1805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84"/>
              </a:lnSpc>
            </a:pPr>
            <a:r>
              <a:rPr lang="en-US" sz="14004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50364" y="2706624"/>
            <a:ext cx="17016831" cy="7256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209042" indent="-604521" lvl="1">
              <a:lnSpc>
                <a:spcPts val="5432"/>
              </a:lnSpc>
              <a:buAutoNum type="arabicPeriod" startAt="1"/>
            </a:pPr>
            <a:r>
              <a:rPr lang="en-US" sz="5600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What w</a:t>
            </a:r>
            <a:r>
              <a:rPr lang="en-US" sz="5600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 did in the previous presentation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5260222" y="3956099"/>
            <a:ext cx="2143549" cy="2143549"/>
          </a:xfrm>
          <a:custGeom>
            <a:avLst/>
            <a:gdLst/>
            <a:ahLst/>
            <a:cxnLst/>
            <a:rect r="r" b="b" t="t" l="l"/>
            <a:pathLst>
              <a:path h="2143549" w="2143549">
                <a:moveTo>
                  <a:pt x="0" y="0"/>
                </a:moveTo>
                <a:lnTo>
                  <a:pt x="2143549" y="0"/>
                </a:lnTo>
                <a:lnTo>
                  <a:pt x="2143549" y="2143549"/>
                </a:lnTo>
                <a:lnTo>
                  <a:pt x="0" y="21435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0" y="7453043"/>
            <a:ext cx="1368515" cy="1368515"/>
          </a:xfrm>
          <a:custGeom>
            <a:avLst/>
            <a:gdLst/>
            <a:ahLst/>
            <a:cxnLst/>
            <a:rect r="r" b="b" t="t" l="l"/>
            <a:pathLst>
              <a:path h="1368515" w="1368515">
                <a:moveTo>
                  <a:pt x="0" y="0"/>
                </a:moveTo>
                <a:lnTo>
                  <a:pt x="1368515" y="0"/>
                </a:lnTo>
                <a:lnTo>
                  <a:pt x="1368515" y="1368515"/>
                </a:lnTo>
                <a:lnTo>
                  <a:pt x="0" y="13685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775281"/>
            <a:ext cx="18288000" cy="725646"/>
            <a:chOff x="0" y="0"/>
            <a:chExt cx="4816593" cy="19111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191117"/>
            </a:xfrm>
            <a:custGeom>
              <a:avLst/>
              <a:gdLst/>
              <a:ahLst/>
              <a:cxnLst/>
              <a:rect r="r" b="b" t="t" l="l"/>
              <a:pathLst>
                <a:path h="19111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1117"/>
                  </a:lnTo>
                  <a:lnTo>
                    <a:pt x="0" y="191117"/>
                  </a:lnTo>
                  <a:close/>
                </a:path>
              </a:pathLst>
            </a:custGeom>
            <a:solidFill>
              <a:srgbClr val="07223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238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692004" y="1613850"/>
            <a:ext cx="19672009" cy="10049024"/>
            <a:chOff x="0" y="0"/>
            <a:chExt cx="5181105" cy="264665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181105" cy="2646657"/>
            </a:xfrm>
            <a:custGeom>
              <a:avLst/>
              <a:gdLst/>
              <a:ahLst/>
              <a:cxnLst/>
              <a:rect r="r" b="b" t="t" l="l"/>
              <a:pathLst>
                <a:path h="2646657" w="5181105">
                  <a:moveTo>
                    <a:pt x="0" y="0"/>
                  </a:moveTo>
                  <a:lnTo>
                    <a:pt x="5181105" y="0"/>
                  </a:lnTo>
                  <a:lnTo>
                    <a:pt x="5181105" y="2646657"/>
                  </a:lnTo>
                  <a:lnTo>
                    <a:pt x="0" y="2646657"/>
                  </a:lnTo>
                  <a:close/>
                </a:path>
              </a:pathLst>
            </a:custGeom>
            <a:ln w="85725" cap="sq">
              <a:solidFill>
                <a:srgbClr val="000000"/>
              </a:solidFill>
              <a:prstDash val="lgDash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5181105" cy="26942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8700" y="759724"/>
            <a:ext cx="12503813" cy="1686167"/>
            <a:chOff x="0" y="0"/>
            <a:chExt cx="3293185" cy="44409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93185" cy="444093"/>
            </a:xfrm>
            <a:custGeom>
              <a:avLst/>
              <a:gdLst/>
              <a:ahLst/>
              <a:cxnLst/>
              <a:rect r="r" b="b" t="t" l="l"/>
              <a:pathLst>
                <a:path h="444093" w="3293185">
                  <a:moveTo>
                    <a:pt x="0" y="0"/>
                  </a:moveTo>
                  <a:lnTo>
                    <a:pt x="3293185" y="0"/>
                  </a:lnTo>
                  <a:lnTo>
                    <a:pt x="3293185" y="444093"/>
                  </a:lnTo>
                  <a:lnTo>
                    <a:pt x="0" y="444093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lgDash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3293185" cy="4917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2892093" y="1277134"/>
            <a:ext cx="12503813" cy="7972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16"/>
              </a:lnSpc>
            </a:pPr>
            <a:r>
              <a:rPr lang="en-US" sz="609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Progress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0364" y="1105659"/>
            <a:ext cx="2656876" cy="18059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84"/>
              </a:lnSpc>
            </a:pPr>
            <a:r>
              <a:rPr lang="en-US" sz="14004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B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0" y="8222617"/>
            <a:ext cx="1368515" cy="1368515"/>
          </a:xfrm>
          <a:custGeom>
            <a:avLst/>
            <a:gdLst/>
            <a:ahLst/>
            <a:cxnLst/>
            <a:rect r="r" b="b" t="t" l="l"/>
            <a:pathLst>
              <a:path h="1368515" w="1368515">
                <a:moveTo>
                  <a:pt x="0" y="0"/>
                </a:moveTo>
                <a:lnTo>
                  <a:pt x="1368515" y="0"/>
                </a:lnTo>
                <a:lnTo>
                  <a:pt x="1368515" y="1368516"/>
                </a:lnTo>
                <a:lnTo>
                  <a:pt x="0" y="13685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273808" y="3422650"/>
            <a:ext cx="16377323" cy="6999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60"/>
              </a:lnSpc>
            </a:pP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Noise Filtering</a:t>
            </a:r>
          </a:p>
          <a:p>
            <a:pPr algn="l">
              <a:lnSpc>
                <a:spcPts val="6160"/>
              </a:lnSpc>
            </a:pP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Apply band-pass filter (1-40Hz)</a:t>
            </a:r>
          </a:p>
          <a:p>
            <a:pPr algn="l">
              <a:lnSpc>
                <a:spcPts val="6160"/>
              </a:lnSpc>
            </a:pP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Artifact removal</a:t>
            </a:r>
          </a:p>
          <a:p>
            <a:pPr algn="l">
              <a:lnSpc>
                <a:spcPts val="6160"/>
              </a:lnSpc>
            </a:pP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Identify and remove artifacts (eye blinks, muscle activity)</a:t>
            </a:r>
          </a:p>
          <a:p>
            <a:pPr algn="l">
              <a:lnSpc>
                <a:spcPts val="6160"/>
              </a:lnSpc>
            </a:pP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Use MNE's artifact detection methods</a:t>
            </a:r>
          </a:p>
          <a:p>
            <a:pPr algn="l">
              <a:lnSpc>
                <a:spcPts val="6160"/>
              </a:lnSpc>
            </a:pPr>
          </a:p>
          <a:p>
            <a:pPr algn="l">
              <a:lnSpc>
                <a:spcPts val="6160"/>
              </a:lnSpc>
            </a:pPr>
          </a:p>
          <a:p>
            <a:pPr algn="l">
              <a:lnSpc>
                <a:spcPts val="6160"/>
              </a:lnSpc>
            </a:pPr>
          </a:p>
          <a:p>
            <a:pPr algn="l">
              <a:lnSpc>
                <a:spcPts val="6160"/>
              </a:lnSpc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650364" y="2706624"/>
            <a:ext cx="17016831" cy="7256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209042" indent="-604521" lvl="1">
              <a:lnSpc>
                <a:spcPts val="5432"/>
              </a:lnSpc>
              <a:buAutoNum type="arabicPeriod" startAt="1"/>
            </a:pPr>
            <a:r>
              <a:rPr lang="en-US" sz="5600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Data</a:t>
            </a:r>
            <a:r>
              <a:rPr lang="en-US" sz="5600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preprocessing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52144" y="8363043"/>
            <a:ext cx="16377323" cy="2313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60"/>
              </a:lnSpc>
            </a:pPr>
            <a:r>
              <a:rPr lang="en-US" sz="4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Picked 3 channels (E1, E2 ,E3) - including EEG channel</a:t>
            </a:r>
          </a:p>
          <a:p>
            <a:pPr algn="l">
              <a:lnSpc>
                <a:spcPts val="6160"/>
              </a:lnSpc>
            </a:pPr>
          </a:p>
          <a:p>
            <a:pPr algn="l">
              <a:lnSpc>
                <a:spcPts val="6160"/>
              </a:lnSpc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7647017"/>
            <a:ext cx="17016831" cy="7256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209042" indent="-604521" lvl="1">
              <a:lnSpc>
                <a:spcPts val="5432"/>
              </a:lnSpc>
              <a:buAutoNum type="arabicPeriod" startAt="1"/>
            </a:pPr>
            <a:r>
              <a:rPr lang="en-US" sz="5600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Channel</a:t>
            </a:r>
            <a:r>
              <a:rPr lang="en-US" sz="5600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selection 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47938" y="514350"/>
            <a:ext cx="8992124" cy="9258300"/>
          </a:xfrm>
          <a:custGeom>
            <a:avLst/>
            <a:gdLst/>
            <a:ahLst/>
            <a:cxnLst/>
            <a:rect r="r" b="b" t="t" l="l"/>
            <a:pathLst>
              <a:path h="9258300" w="8992124">
                <a:moveTo>
                  <a:pt x="0" y="0"/>
                </a:moveTo>
                <a:lnTo>
                  <a:pt x="8992124" y="0"/>
                </a:lnTo>
                <a:lnTo>
                  <a:pt x="8992124" y="9258300"/>
                </a:lnTo>
                <a:lnTo>
                  <a:pt x="0" y="92583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5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0" y="9775281"/>
            <a:ext cx="18288000" cy="725646"/>
            <a:chOff x="0" y="0"/>
            <a:chExt cx="4816593" cy="1911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816592" cy="191117"/>
            </a:xfrm>
            <a:custGeom>
              <a:avLst/>
              <a:gdLst/>
              <a:ahLst/>
              <a:cxnLst/>
              <a:rect r="r" b="b" t="t" l="l"/>
              <a:pathLst>
                <a:path h="19111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1117"/>
                  </a:lnTo>
                  <a:lnTo>
                    <a:pt x="0" y="191117"/>
                  </a:lnTo>
                  <a:close/>
                </a:path>
              </a:pathLst>
            </a:custGeom>
            <a:solidFill>
              <a:srgbClr val="07223B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4816593" cy="238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410536" y="1885157"/>
            <a:ext cx="13466928" cy="7373143"/>
          </a:xfrm>
          <a:custGeom>
            <a:avLst/>
            <a:gdLst/>
            <a:ahLst/>
            <a:cxnLst/>
            <a:rect r="r" b="b" t="t" l="l"/>
            <a:pathLst>
              <a:path h="7373143" w="13466928">
                <a:moveTo>
                  <a:pt x="0" y="0"/>
                </a:moveTo>
                <a:lnTo>
                  <a:pt x="13466928" y="0"/>
                </a:lnTo>
                <a:lnTo>
                  <a:pt x="13466928" y="7373143"/>
                </a:lnTo>
                <a:lnTo>
                  <a:pt x="0" y="73731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159605"/>
            <a:ext cx="17016831" cy="7255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32"/>
              </a:lnSpc>
            </a:pPr>
            <a:r>
              <a:rPr lang="en-US" sz="5600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Trend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6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0" y="9775281"/>
            <a:ext cx="18288000" cy="725646"/>
            <a:chOff x="0" y="0"/>
            <a:chExt cx="4816593" cy="19111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816592" cy="191117"/>
            </a:xfrm>
            <a:custGeom>
              <a:avLst/>
              <a:gdLst/>
              <a:ahLst/>
              <a:cxnLst/>
              <a:rect r="r" b="b" t="t" l="l"/>
              <a:pathLst>
                <a:path h="19111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1117"/>
                  </a:lnTo>
                  <a:lnTo>
                    <a:pt x="0" y="191117"/>
                  </a:lnTo>
                  <a:close/>
                </a:path>
              </a:pathLst>
            </a:custGeom>
            <a:solidFill>
              <a:srgbClr val="07223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816593" cy="238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560855" y="2049756"/>
            <a:ext cx="13166290" cy="7208544"/>
          </a:xfrm>
          <a:custGeom>
            <a:avLst/>
            <a:gdLst/>
            <a:ahLst/>
            <a:cxnLst/>
            <a:rect r="r" b="b" t="t" l="l"/>
            <a:pathLst>
              <a:path h="7208544" w="13166290">
                <a:moveTo>
                  <a:pt x="0" y="0"/>
                </a:moveTo>
                <a:lnTo>
                  <a:pt x="13166290" y="0"/>
                </a:lnTo>
                <a:lnTo>
                  <a:pt x="13166290" y="7208544"/>
                </a:lnTo>
                <a:lnTo>
                  <a:pt x="0" y="7208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159605"/>
            <a:ext cx="17016831" cy="7255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32"/>
              </a:lnSpc>
            </a:pPr>
            <a:r>
              <a:rPr lang="en-US" sz="5600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Trend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7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0" y="9775281"/>
            <a:ext cx="18288000" cy="725646"/>
            <a:chOff x="0" y="0"/>
            <a:chExt cx="4816593" cy="19111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816592" cy="191117"/>
            </a:xfrm>
            <a:custGeom>
              <a:avLst/>
              <a:gdLst/>
              <a:ahLst/>
              <a:cxnLst/>
              <a:rect r="r" b="b" t="t" l="l"/>
              <a:pathLst>
                <a:path h="19111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1117"/>
                  </a:lnTo>
                  <a:lnTo>
                    <a:pt x="0" y="191117"/>
                  </a:lnTo>
                  <a:close/>
                </a:path>
              </a:pathLst>
            </a:custGeom>
            <a:solidFill>
              <a:srgbClr val="07223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816593" cy="238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128647" y="2241028"/>
            <a:ext cx="12816936" cy="7017272"/>
          </a:xfrm>
          <a:custGeom>
            <a:avLst/>
            <a:gdLst/>
            <a:ahLst/>
            <a:cxnLst/>
            <a:rect r="r" b="b" t="t" l="l"/>
            <a:pathLst>
              <a:path h="7017272" w="12816936">
                <a:moveTo>
                  <a:pt x="0" y="0"/>
                </a:moveTo>
                <a:lnTo>
                  <a:pt x="12816936" y="0"/>
                </a:lnTo>
                <a:lnTo>
                  <a:pt x="12816936" y="7017272"/>
                </a:lnTo>
                <a:lnTo>
                  <a:pt x="0" y="70172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159605"/>
            <a:ext cx="17016831" cy="7255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32"/>
              </a:lnSpc>
            </a:pPr>
            <a:r>
              <a:rPr lang="en-US" sz="5600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Trend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0" y="9775281"/>
            <a:ext cx="18288000" cy="725646"/>
            <a:chOff x="0" y="0"/>
            <a:chExt cx="4816593" cy="19111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816592" cy="191117"/>
            </a:xfrm>
            <a:custGeom>
              <a:avLst/>
              <a:gdLst/>
              <a:ahLst/>
              <a:cxnLst/>
              <a:rect r="r" b="b" t="t" l="l"/>
              <a:pathLst>
                <a:path h="19111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1117"/>
                  </a:lnTo>
                  <a:lnTo>
                    <a:pt x="0" y="191117"/>
                  </a:lnTo>
                  <a:close/>
                </a:path>
              </a:pathLst>
            </a:custGeom>
            <a:solidFill>
              <a:srgbClr val="07223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816593" cy="238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093696" y="2784571"/>
            <a:ext cx="12100608" cy="6625083"/>
          </a:xfrm>
          <a:custGeom>
            <a:avLst/>
            <a:gdLst/>
            <a:ahLst/>
            <a:cxnLst/>
            <a:rect r="r" b="b" t="t" l="l"/>
            <a:pathLst>
              <a:path h="6625083" w="12100608">
                <a:moveTo>
                  <a:pt x="0" y="0"/>
                </a:moveTo>
                <a:lnTo>
                  <a:pt x="12100608" y="0"/>
                </a:lnTo>
                <a:lnTo>
                  <a:pt x="12100608" y="6625083"/>
                </a:lnTo>
                <a:lnTo>
                  <a:pt x="0" y="66250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159605"/>
            <a:ext cx="17016831" cy="7255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32"/>
              </a:lnSpc>
            </a:pPr>
            <a:r>
              <a:rPr lang="en-US" sz="5600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Stationary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90657" y="473390"/>
            <a:ext cx="7309209" cy="1926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1"/>
              </a:lnSpc>
              <a:spcBef>
                <a:spcPct val="0"/>
              </a:spcBef>
            </a:pPr>
            <a:r>
              <a:rPr lang="en-US" b="true" sz="2186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ADF Statistic: -21.631094039392178</a:t>
            </a:r>
          </a:p>
          <a:p>
            <a:pPr algn="l">
              <a:lnSpc>
                <a:spcPts val="3061"/>
              </a:lnSpc>
              <a:spcBef>
                <a:spcPct val="0"/>
              </a:spcBef>
            </a:pPr>
            <a:r>
              <a:rPr lang="en-US" b="true" sz="2186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p-value: 0.0</a:t>
            </a:r>
          </a:p>
          <a:p>
            <a:pPr algn="l">
              <a:lnSpc>
                <a:spcPts val="3061"/>
              </a:lnSpc>
              <a:spcBef>
                <a:spcPct val="0"/>
              </a:spcBef>
            </a:pPr>
            <a:r>
              <a:rPr lang="en-US" b="true" sz="2186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Critical Value 1%: -3.4303957862246266</a:t>
            </a:r>
          </a:p>
          <a:p>
            <a:pPr algn="l">
              <a:lnSpc>
                <a:spcPts val="3061"/>
              </a:lnSpc>
              <a:spcBef>
                <a:spcPct val="0"/>
              </a:spcBef>
            </a:pPr>
            <a:r>
              <a:rPr lang="en-US" b="true" sz="2186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Critical Value 5%: -2.86156023686082</a:t>
            </a:r>
          </a:p>
          <a:p>
            <a:pPr algn="l">
              <a:lnSpc>
                <a:spcPts val="3061"/>
              </a:lnSpc>
              <a:spcBef>
                <a:spcPct val="0"/>
              </a:spcBef>
            </a:pPr>
            <a:r>
              <a:rPr lang="en-US" b="true" sz="2186">
                <a:solidFill>
                  <a:srgbClr val="5170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Critical Value 10%: -2.5667807713612283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9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0" y="9775281"/>
            <a:ext cx="18288000" cy="725646"/>
            <a:chOff x="0" y="0"/>
            <a:chExt cx="4816593" cy="19111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816592" cy="191117"/>
            </a:xfrm>
            <a:custGeom>
              <a:avLst/>
              <a:gdLst/>
              <a:ahLst/>
              <a:cxnLst/>
              <a:rect r="r" b="b" t="t" l="l"/>
              <a:pathLst>
                <a:path h="19111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1117"/>
                  </a:lnTo>
                  <a:lnTo>
                    <a:pt x="0" y="191117"/>
                  </a:lnTo>
                  <a:close/>
                </a:path>
              </a:pathLst>
            </a:custGeom>
            <a:solidFill>
              <a:srgbClr val="07223B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4816593" cy="238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070771" y="4781098"/>
            <a:ext cx="6146458" cy="877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84"/>
              </a:lnSpc>
            </a:pPr>
            <a:r>
              <a:rPr lang="en-US" sz="6788">
                <a:solidFill>
                  <a:srgbClr val="07223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C. Conclusion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10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0" y="9775281"/>
            <a:ext cx="18288000" cy="725646"/>
            <a:chOff x="0" y="0"/>
            <a:chExt cx="4816593" cy="1911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816592" cy="191117"/>
            </a:xfrm>
            <a:custGeom>
              <a:avLst/>
              <a:gdLst/>
              <a:ahLst/>
              <a:cxnLst/>
              <a:rect r="r" b="b" t="t" l="l"/>
              <a:pathLst>
                <a:path h="19111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1117"/>
                  </a:lnTo>
                  <a:lnTo>
                    <a:pt x="0" y="191117"/>
                  </a:lnTo>
                  <a:close/>
                </a:path>
              </a:pathLst>
            </a:custGeom>
            <a:solidFill>
              <a:srgbClr val="07223B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4816593" cy="238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414464" y="4781098"/>
            <a:ext cx="5459073" cy="877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84"/>
              </a:lnSpc>
            </a:pPr>
            <a:r>
              <a:rPr lang="en-US" sz="6788">
                <a:solidFill>
                  <a:srgbClr val="07223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Thank you!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11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0" y="9775281"/>
            <a:ext cx="18288000" cy="725646"/>
            <a:chOff x="0" y="0"/>
            <a:chExt cx="4816593" cy="1911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816592" cy="191117"/>
            </a:xfrm>
            <a:custGeom>
              <a:avLst/>
              <a:gdLst/>
              <a:ahLst/>
              <a:cxnLst/>
              <a:rect r="r" b="b" t="t" l="l"/>
              <a:pathLst>
                <a:path h="19111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91117"/>
                  </a:lnTo>
                  <a:lnTo>
                    <a:pt x="0" y="191117"/>
                  </a:lnTo>
                  <a:close/>
                </a:path>
              </a:pathLst>
            </a:custGeom>
            <a:solidFill>
              <a:srgbClr val="07223B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4816593" cy="238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DAG-2bFKaT8</dc:identifier>
  <dcterms:modified xsi:type="dcterms:W3CDTF">2011-08-01T06:04:30Z</dcterms:modified>
  <cp:revision>1</cp:revision>
  <dc:title>Slide</dc:title>
</cp:coreProperties>
</file>