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al Nova Bold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Muli" panose="020B0604020202020204" charset="0"/>
      <p:regular r:id="rId16"/>
    </p:embeddedFont>
    <p:embeddedFont>
      <p:font typeface="Muli Bold" panose="020B0604020202020204" charset="0"/>
      <p:regular r:id="rId17"/>
    </p:embeddedFont>
    <p:embeddedFont>
      <p:font typeface="Noto Sans" panose="020B05020402040202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nh Dương Nguyễn Đỗ" userId="b8827725017ffd42" providerId="LiveId" clId="{28981AB8-99E3-4CDC-A9B0-6439E79686A4}"/>
    <pc:docChg chg="modSld">
      <pc:chgData name="Ánh Dương Nguyễn Đỗ" userId="b8827725017ffd42" providerId="LiveId" clId="{28981AB8-99E3-4CDC-A9B0-6439E79686A4}" dt="2026-05-11T15:18:49.125" v="0" actId="1076"/>
      <pc:docMkLst>
        <pc:docMk/>
      </pc:docMkLst>
      <pc:sldChg chg="modSp mod">
        <pc:chgData name="Ánh Dương Nguyễn Đỗ" userId="b8827725017ffd42" providerId="LiveId" clId="{28981AB8-99E3-4CDC-A9B0-6439E79686A4}" dt="2026-05-11T15:18:49.125" v="0" actId="1076"/>
        <pc:sldMkLst>
          <pc:docMk/>
          <pc:sldMk cId="0" sldId="264"/>
        </pc:sldMkLst>
        <pc:spChg chg="mod">
          <ac:chgData name="Ánh Dương Nguyễn Đỗ" userId="b8827725017ffd42" providerId="LiveId" clId="{28981AB8-99E3-4CDC-A9B0-6439E79686A4}" dt="2026-05-11T15:18:49.125" v="0" actId="1076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86260" y="248955"/>
            <a:ext cx="2260741" cy="2588190"/>
          </a:xfrm>
          <a:custGeom>
            <a:avLst/>
            <a:gdLst/>
            <a:ahLst/>
            <a:cxnLst/>
            <a:rect l="l" t="t" r="r" b="b"/>
            <a:pathLst>
              <a:path w="2260741" h="2588190">
                <a:moveTo>
                  <a:pt x="0" y="0"/>
                </a:moveTo>
                <a:lnTo>
                  <a:pt x="2260740" y="0"/>
                </a:lnTo>
                <a:lnTo>
                  <a:pt x="2260740" y="2588190"/>
                </a:lnTo>
                <a:lnTo>
                  <a:pt x="0" y="2588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0205" y="442846"/>
            <a:ext cx="2200409" cy="2200409"/>
          </a:xfrm>
          <a:custGeom>
            <a:avLst/>
            <a:gdLst/>
            <a:ahLst/>
            <a:cxnLst/>
            <a:rect l="l" t="t" r="r" b="b"/>
            <a:pathLst>
              <a:path w="2200409" h="2200409">
                <a:moveTo>
                  <a:pt x="0" y="0"/>
                </a:moveTo>
                <a:lnTo>
                  <a:pt x="2200409" y="0"/>
                </a:lnTo>
                <a:lnTo>
                  <a:pt x="2200409" y="2200408"/>
                </a:lnTo>
                <a:lnTo>
                  <a:pt x="0" y="2200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442846"/>
            <a:ext cx="2187532" cy="2166991"/>
          </a:xfrm>
          <a:custGeom>
            <a:avLst/>
            <a:gdLst/>
            <a:ahLst/>
            <a:cxnLst/>
            <a:rect l="l" t="t" r="r" b="b"/>
            <a:pathLst>
              <a:path w="2187532" h="2166991">
                <a:moveTo>
                  <a:pt x="0" y="0"/>
                </a:moveTo>
                <a:lnTo>
                  <a:pt x="2187532" y="0"/>
                </a:lnTo>
                <a:lnTo>
                  <a:pt x="2187532" y="2166991"/>
                </a:lnTo>
                <a:lnTo>
                  <a:pt x="0" y="216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51137" y="4119245"/>
            <a:ext cx="14385727" cy="16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EEG Analysis with MNE Sample Dataset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i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Progress Report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75709" y="6006174"/>
            <a:ext cx="6936581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10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Presenter: Nguyen Do Anh Duong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7795" y="7848309"/>
            <a:ext cx="12612410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Members: Tran Ngoc Mai, Nguyen Do Anh Duong, Bui Phuong Thao, Nguyen Ha Vy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46749" y="1607459"/>
            <a:ext cx="959450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5953"/>
            <a:ext cx="16230600" cy="745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A. Previous Week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644687"/>
            <a:ext cx="16230600" cy="74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B. Progress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753420"/>
            <a:ext cx="16230600" cy="74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C. Conclusion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92004" y="1613850"/>
            <a:ext cx="19672009" cy="10049024"/>
            <a:chOff x="0" y="0"/>
            <a:chExt cx="5181105" cy="2646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1105" cy="2646657"/>
            </a:xfrm>
            <a:custGeom>
              <a:avLst/>
              <a:gdLst/>
              <a:ahLst/>
              <a:cxnLst/>
              <a:rect l="l" t="t" r="r" b="b"/>
              <a:pathLst>
                <a:path w="5181105" h="2646657">
                  <a:moveTo>
                    <a:pt x="0" y="0"/>
                  </a:moveTo>
                  <a:lnTo>
                    <a:pt x="5181105" y="0"/>
                  </a:lnTo>
                  <a:lnTo>
                    <a:pt x="5181105" y="2646657"/>
                  </a:lnTo>
                  <a:lnTo>
                    <a:pt x="0" y="2646657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lg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1105" cy="2694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759724"/>
            <a:ext cx="12503813" cy="1686167"/>
            <a:chOff x="0" y="0"/>
            <a:chExt cx="3293185" cy="4440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93185" cy="444093"/>
            </a:xfrm>
            <a:custGeom>
              <a:avLst/>
              <a:gdLst/>
              <a:ahLst/>
              <a:cxnLst/>
              <a:rect l="l" t="t" r="r" b="b"/>
              <a:pathLst>
                <a:path w="3293185" h="444093">
                  <a:moveTo>
                    <a:pt x="0" y="0"/>
                  </a:moveTo>
                  <a:lnTo>
                    <a:pt x="3293185" y="0"/>
                  </a:lnTo>
                  <a:lnTo>
                    <a:pt x="3293185" y="444093"/>
                  </a:lnTo>
                  <a:lnTo>
                    <a:pt x="0" y="44409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lg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293185" cy="49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3808" y="3422650"/>
            <a:ext cx="16377323" cy="77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Introduced the EEG-Eye Tracking dataset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Explained the experimental setup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Screen flash stimulation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Eye-tracking (pupil size)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EEG recording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Demonstrated how to load and visualize the data using MNE-Python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Showed basic raw signal plots</a:t>
            </a: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616167" y="8487582"/>
            <a:ext cx="1055667" cy="1055667"/>
          </a:xfrm>
          <a:custGeom>
            <a:avLst/>
            <a:gdLst/>
            <a:ahLst/>
            <a:cxnLst/>
            <a:rect l="l" t="t" r="r" b="b"/>
            <a:pathLst>
              <a:path w="1055667" h="1055667">
                <a:moveTo>
                  <a:pt x="0" y="0"/>
                </a:moveTo>
                <a:lnTo>
                  <a:pt x="1055666" y="0"/>
                </a:lnTo>
                <a:lnTo>
                  <a:pt x="1055666" y="1055667"/>
                </a:lnTo>
                <a:lnTo>
                  <a:pt x="0" y="1055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892093" y="1266091"/>
            <a:ext cx="12503813" cy="79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6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Previous Week Summary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364" y="1105659"/>
            <a:ext cx="2656876" cy="180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4"/>
              </a:lnSpc>
            </a:pPr>
            <a:r>
              <a:rPr lang="en-US" sz="140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364" y="2706624"/>
            <a:ext cx="17016831" cy="72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42" lvl="1" indent="-604521" algn="l">
              <a:lnSpc>
                <a:spcPts val="5432"/>
              </a:lnSpc>
              <a:buAutoNum type="arabicPeriod"/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did in the previous presentation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60222" y="3956099"/>
            <a:ext cx="2143549" cy="2143549"/>
          </a:xfrm>
          <a:custGeom>
            <a:avLst/>
            <a:gdLst/>
            <a:ahLst/>
            <a:cxnLst/>
            <a:rect l="l" t="t" r="r" b="b"/>
            <a:pathLst>
              <a:path w="2143549" h="2143549">
                <a:moveTo>
                  <a:pt x="0" y="0"/>
                </a:moveTo>
                <a:lnTo>
                  <a:pt x="2143549" y="0"/>
                </a:lnTo>
                <a:lnTo>
                  <a:pt x="2143549" y="2143549"/>
                </a:lnTo>
                <a:lnTo>
                  <a:pt x="0" y="2143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0" y="7453043"/>
            <a:ext cx="1368515" cy="1368515"/>
          </a:xfrm>
          <a:custGeom>
            <a:avLst/>
            <a:gdLst/>
            <a:ahLst/>
            <a:cxnLst/>
            <a:rect l="l" t="t" r="r" b="b"/>
            <a:pathLst>
              <a:path w="1368515" h="1368515">
                <a:moveTo>
                  <a:pt x="0" y="0"/>
                </a:moveTo>
                <a:lnTo>
                  <a:pt x="1368515" y="0"/>
                </a:lnTo>
                <a:lnTo>
                  <a:pt x="1368515" y="1368515"/>
                </a:lnTo>
                <a:lnTo>
                  <a:pt x="0" y="1368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92004" y="1613850"/>
            <a:ext cx="19672009" cy="10049024"/>
            <a:chOff x="0" y="0"/>
            <a:chExt cx="5181105" cy="2646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1105" cy="2646657"/>
            </a:xfrm>
            <a:custGeom>
              <a:avLst/>
              <a:gdLst/>
              <a:ahLst/>
              <a:cxnLst/>
              <a:rect l="l" t="t" r="r" b="b"/>
              <a:pathLst>
                <a:path w="5181105" h="2646657">
                  <a:moveTo>
                    <a:pt x="0" y="0"/>
                  </a:moveTo>
                  <a:lnTo>
                    <a:pt x="5181105" y="0"/>
                  </a:lnTo>
                  <a:lnTo>
                    <a:pt x="5181105" y="2646657"/>
                  </a:lnTo>
                  <a:lnTo>
                    <a:pt x="0" y="2646657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lg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1105" cy="2694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759724"/>
            <a:ext cx="12503813" cy="1686167"/>
            <a:chOff x="0" y="0"/>
            <a:chExt cx="3293185" cy="4440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93185" cy="444093"/>
            </a:xfrm>
            <a:custGeom>
              <a:avLst/>
              <a:gdLst/>
              <a:ahLst/>
              <a:cxnLst/>
              <a:rect l="l" t="t" r="r" b="b"/>
              <a:pathLst>
                <a:path w="3293185" h="444093">
                  <a:moveTo>
                    <a:pt x="0" y="0"/>
                  </a:moveTo>
                  <a:lnTo>
                    <a:pt x="3293185" y="0"/>
                  </a:lnTo>
                  <a:lnTo>
                    <a:pt x="3293185" y="444093"/>
                  </a:lnTo>
                  <a:lnTo>
                    <a:pt x="0" y="44409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lg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293185" cy="49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92093" y="1277134"/>
            <a:ext cx="12503813" cy="79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6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0364" y="1105659"/>
            <a:ext cx="2656876" cy="1805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4"/>
              </a:lnSpc>
            </a:pPr>
            <a:r>
              <a:rPr lang="en-US" sz="140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8222617"/>
            <a:ext cx="1368515" cy="1368515"/>
          </a:xfrm>
          <a:custGeom>
            <a:avLst/>
            <a:gdLst/>
            <a:ahLst/>
            <a:cxnLst/>
            <a:rect l="l" t="t" r="r" b="b"/>
            <a:pathLst>
              <a:path w="1368515" h="1368515">
                <a:moveTo>
                  <a:pt x="0" y="0"/>
                </a:moveTo>
                <a:lnTo>
                  <a:pt x="1368515" y="0"/>
                </a:lnTo>
                <a:lnTo>
                  <a:pt x="1368515" y="1368516"/>
                </a:lnTo>
                <a:lnTo>
                  <a:pt x="0" y="1368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73808" y="3422650"/>
            <a:ext cx="16377323" cy="699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 Filtering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Apply band-pass filter (1-40Hz)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Artifact removal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Identify and remove artifacts (eye blinks, muscle activity)</a:t>
            </a:r>
          </a:p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Use MNE's artifact detection methods</a:t>
            </a: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0364" y="2706624"/>
            <a:ext cx="17016831" cy="72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42" lvl="1" indent="-604521" algn="l">
              <a:lnSpc>
                <a:spcPts val="5432"/>
              </a:lnSpc>
              <a:buAutoNum type="arabicPeriod"/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52144" y="8363043"/>
            <a:ext cx="16377323" cy="231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Picked 3 channels (E1, E2 ,E3) - including EEG channel</a:t>
            </a: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160"/>
              </a:lnSpc>
            </a:pP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7647017"/>
            <a:ext cx="17016831" cy="72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42" lvl="1" indent="-604521" algn="l">
              <a:lnSpc>
                <a:spcPts val="5432"/>
              </a:lnSpc>
              <a:buAutoNum type="arabicPeriod"/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Channel selection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47938" y="514350"/>
            <a:ext cx="8992124" cy="9258300"/>
          </a:xfrm>
          <a:custGeom>
            <a:avLst/>
            <a:gdLst/>
            <a:ahLst/>
            <a:cxnLst/>
            <a:rect l="l" t="t" r="r" b="b"/>
            <a:pathLst>
              <a:path w="8992124" h="9258300">
                <a:moveTo>
                  <a:pt x="0" y="0"/>
                </a:moveTo>
                <a:lnTo>
                  <a:pt x="8992124" y="0"/>
                </a:lnTo>
                <a:lnTo>
                  <a:pt x="899212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0536" y="1885157"/>
            <a:ext cx="13466928" cy="7373143"/>
          </a:xfrm>
          <a:custGeom>
            <a:avLst/>
            <a:gdLst/>
            <a:ahLst/>
            <a:cxnLst/>
            <a:rect l="l" t="t" r="r" b="b"/>
            <a:pathLst>
              <a:path w="13466928" h="7373143">
                <a:moveTo>
                  <a:pt x="0" y="0"/>
                </a:moveTo>
                <a:lnTo>
                  <a:pt x="13466928" y="0"/>
                </a:lnTo>
                <a:lnTo>
                  <a:pt x="13466928" y="7373143"/>
                </a:lnTo>
                <a:lnTo>
                  <a:pt x="0" y="7373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59605"/>
            <a:ext cx="17016831" cy="7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60855" y="2049756"/>
            <a:ext cx="13166290" cy="7208544"/>
          </a:xfrm>
          <a:custGeom>
            <a:avLst/>
            <a:gdLst/>
            <a:ahLst/>
            <a:cxnLst/>
            <a:rect l="l" t="t" r="r" b="b"/>
            <a:pathLst>
              <a:path w="13166290" h="7208544">
                <a:moveTo>
                  <a:pt x="0" y="0"/>
                </a:moveTo>
                <a:lnTo>
                  <a:pt x="13166290" y="0"/>
                </a:lnTo>
                <a:lnTo>
                  <a:pt x="13166290" y="7208544"/>
                </a:lnTo>
                <a:lnTo>
                  <a:pt x="0" y="7208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59605"/>
            <a:ext cx="17016831" cy="7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28647" y="2241028"/>
            <a:ext cx="12816936" cy="7017272"/>
          </a:xfrm>
          <a:custGeom>
            <a:avLst/>
            <a:gdLst/>
            <a:ahLst/>
            <a:cxnLst/>
            <a:rect l="l" t="t" r="r" b="b"/>
            <a:pathLst>
              <a:path w="12816936" h="7017272">
                <a:moveTo>
                  <a:pt x="0" y="0"/>
                </a:moveTo>
                <a:lnTo>
                  <a:pt x="12816936" y="0"/>
                </a:lnTo>
                <a:lnTo>
                  <a:pt x="12816936" y="7017272"/>
                </a:lnTo>
                <a:lnTo>
                  <a:pt x="0" y="701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59605"/>
            <a:ext cx="17016831" cy="7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3696" y="2784571"/>
            <a:ext cx="12100608" cy="6625083"/>
          </a:xfrm>
          <a:custGeom>
            <a:avLst/>
            <a:gdLst/>
            <a:ahLst/>
            <a:cxnLst/>
            <a:rect l="l" t="t" r="r" b="b"/>
            <a:pathLst>
              <a:path w="12100608" h="6625083">
                <a:moveTo>
                  <a:pt x="0" y="0"/>
                </a:moveTo>
                <a:lnTo>
                  <a:pt x="12100608" y="0"/>
                </a:lnTo>
                <a:lnTo>
                  <a:pt x="12100608" y="6625083"/>
                </a:lnTo>
                <a:lnTo>
                  <a:pt x="0" y="6625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59605"/>
            <a:ext cx="17016831" cy="7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560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Stationary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37115" y="408332"/>
            <a:ext cx="7309209" cy="192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  <a:spcBef>
                <a:spcPct val="0"/>
              </a:spcBef>
            </a:pPr>
            <a:r>
              <a:rPr lang="en-US" sz="2186" b="1" dirty="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ADF Statistic: -21.631094039392178</a:t>
            </a:r>
          </a:p>
          <a:p>
            <a:pPr algn="l">
              <a:lnSpc>
                <a:spcPts val="3061"/>
              </a:lnSpc>
              <a:spcBef>
                <a:spcPct val="0"/>
              </a:spcBef>
            </a:pPr>
            <a:r>
              <a:rPr lang="en-US" sz="2186" b="1" dirty="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p-value: 0.0</a:t>
            </a:r>
          </a:p>
          <a:p>
            <a:pPr algn="l">
              <a:lnSpc>
                <a:spcPts val="3061"/>
              </a:lnSpc>
              <a:spcBef>
                <a:spcPct val="0"/>
              </a:spcBef>
            </a:pPr>
            <a:r>
              <a:rPr lang="en-US" sz="2186" b="1" dirty="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Critical Value 1%: -3.4303957862246266</a:t>
            </a:r>
          </a:p>
          <a:p>
            <a:pPr algn="l">
              <a:lnSpc>
                <a:spcPts val="3061"/>
              </a:lnSpc>
              <a:spcBef>
                <a:spcPct val="0"/>
              </a:spcBef>
            </a:pPr>
            <a:r>
              <a:rPr lang="en-US" sz="2186" b="1" dirty="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Critical Value 5%: -2.86156023686082</a:t>
            </a:r>
          </a:p>
          <a:p>
            <a:pPr algn="l">
              <a:lnSpc>
                <a:spcPts val="3061"/>
              </a:lnSpc>
              <a:spcBef>
                <a:spcPct val="0"/>
              </a:spcBef>
            </a:pPr>
            <a:r>
              <a:rPr lang="en-US" sz="2186" b="1" dirty="0">
                <a:solidFill>
                  <a:srgbClr val="5170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Critical Value 10%: -2.5667807713612283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0771" y="4781098"/>
            <a:ext cx="6146458" cy="87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4"/>
              </a:lnSpc>
            </a:pPr>
            <a:r>
              <a:rPr lang="en-US" sz="6788">
                <a:solidFill>
                  <a:srgbClr val="0722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C. 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14464" y="4781098"/>
            <a:ext cx="5459073" cy="87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4"/>
              </a:lnSpc>
            </a:pPr>
            <a:r>
              <a:rPr lang="en-US" sz="6788">
                <a:solidFill>
                  <a:srgbClr val="0722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775281"/>
            <a:ext cx="18288000" cy="725646"/>
            <a:chOff x="0" y="0"/>
            <a:chExt cx="4816593" cy="1911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91117"/>
            </a:xfrm>
            <a:custGeom>
              <a:avLst/>
              <a:gdLst/>
              <a:ahLst/>
              <a:cxnLst/>
              <a:rect l="l" t="t" r="r" b="b"/>
              <a:pathLst>
                <a:path w="4816592" h="191117">
                  <a:moveTo>
                    <a:pt x="0" y="0"/>
                  </a:moveTo>
                  <a:lnTo>
                    <a:pt x="4816592" y="0"/>
                  </a:lnTo>
                  <a:lnTo>
                    <a:pt x="4816592" y="191117"/>
                  </a:lnTo>
                  <a:lnTo>
                    <a:pt x="0" y="191117"/>
                  </a:lnTo>
                  <a:close/>
                </a:path>
              </a:pathLst>
            </a:custGeom>
            <a:solidFill>
              <a:srgbClr val="0722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2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</Words>
  <Application>Microsoft Office PowerPoint</Application>
  <PresentationFormat>Custom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Noto Sans</vt:lpstr>
      <vt:lpstr>Arial</vt:lpstr>
      <vt:lpstr>Arial Nova Bold</vt:lpstr>
      <vt:lpstr>League Spartan</vt:lpstr>
      <vt:lpstr>Muli Bold</vt:lpstr>
      <vt:lpstr>Calibri</vt:lpstr>
      <vt:lpstr>Muli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</dc:title>
  <cp:lastModifiedBy>Ánh Dương Nguyễn Đỗ</cp:lastModifiedBy>
  <cp:revision>1</cp:revision>
  <dcterms:created xsi:type="dcterms:W3CDTF">2006-08-16T00:00:00Z</dcterms:created>
  <dcterms:modified xsi:type="dcterms:W3CDTF">2026-05-11T15:18:59Z</dcterms:modified>
  <dc:identifier>DAG-2bFKaT8</dc:identifier>
</cp:coreProperties>
</file>