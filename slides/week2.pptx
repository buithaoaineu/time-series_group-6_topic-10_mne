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2" r:id="rId4"/>
    <p:sldId id="263" r:id="rId5"/>
    <p:sldId id="281" r:id="rId6"/>
    <p:sldId id="265" r:id="rId7"/>
    <p:sldId id="266" r:id="rId8"/>
    <p:sldId id="277" r:id="rId9"/>
    <p:sldId id="261" r:id="rId10"/>
    <p:sldId id="278" r:id="rId11"/>
    <p:sldId id="279" r:id="rId12"/>
    <p:sldId id="280" r:id="rId13"/>
    <p:sldId id="259" r:id="rId14"/>
  </p:sldIdLst>
  <p:sldSz cx="12192000" cy="6858000"/>
  <p:notesSz cx="6858000" cy="9144000"/>
  <p:embeddedFontLst>
    <p:embeddedFont>
      <p:font typeface="Play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2ZLwmwPqtoFpUvbIbnB5wqrvH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1F3B73"/>
    <a:srgbClr val="C0C7BD"/>
    <a:srgbClr val="E7E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300143-DD50-4C13-AEC1-1EB6F5F1E45E}" v="2" dt="2026-01-22T06:07:17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10" autoAdjust="0"/>
  </p:normalViewPr>
  <p:slideViewPr>
    <p:cSldViewPr snapToGrid="0">
      <p:cViewPr varScale="1">
        <p:scale>
          <a:sx n="65" d="100"/>
          <a:sy n="65" d="100"/>
        </p:scale>
        <p:origin x="9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Ha Vy" userId="dea134cf-b072-495b-a02f-d06f68c8f0bc" providerId="ADAL" clId="{AC21CD7A-C02F-4391-B100-BE73776283B7}"/>
    <pc:docChg chg="custSel modSld">
      <pc:chgData name="Nguyen Ha Vy" userId="dea134cf-b072-495b-a02f-d06f68c8f0bc" providerId="ADAL" clId="{AC21CD7A-C02F-4391-B100-BE73776283B7}" dt="2026-01-22T07:15:31.121" v="0" actId="21"/>
      <pc:docMkLst>
        <pc:docMk/>
      </pc:docMkLst>
      <pc:sldChg chg="delSp mod delAnim">
        <pc:chgData name="Nguyen Ha Vy" userId="dea134cf-b072-495b-a02f-d06f68c8f0bc" providerId="ADAL" clId="{AC21CD7A-C02F-4391-B100-BE73776283B7}" dt="2026-01-22T07:15:31.121" v="0" actId="21"/>
        <pc:sldMkLst>
          <pc:docMk/>
          <pc:sldMk cId="3004295932" sldId="281"/>
        </pc:sldMkLst>
        <pc:picChg chg="del">
          <ac:chgData name="Nguyen Ha Vy" userId="dea134cf-b072-495b-a02f-d06f68c8f0bc" providerId="ADAL" clId="{AC21CD7A-C02F-4391-B100-BE73776283B7}" dt="2026-01-22T07:15:31.121" v="0" actId="21"/>
          <ac:picMkLst>
            <pc:docMk/>
            <pc:sldMk cId="3004295932" sldId="281"/>
            <ac:picMk id="6" creationId="{0BD53E44-B59C-B4BC-9A86-4F1D4DB6C2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8287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8688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6287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687F239C-DEA1-2D02-692B-BCCF78EDA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12AF8C98-00AF-1924-6A48-10FA1FB58B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0218D02A-A09A-4C9F-5F2D-F1FD4C5B60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E605CD8-5BDF-C3EC-1D7F-24B1408D03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6852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8236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9852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1901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5351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6598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1477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3855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Slide 1_1_1_TITLEANDBULLETS_J">
  <p:cSld name="TITLE_AND_BODY_2_1_1_1_1_1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6067da4f_0_38"/>
          <p:cNvSpPr>
            <a:spLocks noGrp="1"/>
          </p:cNvSpPr>
          <p:nvPr>
            <p:ph type="pic" idx="2"/>
          </p:nvPr>
        </p:nvSpPr>
        <p:spPr>
          <a:xfrm>
            <a:off x="457200" y="1519300"/>
            <a:ext cx="3090600" cy="30906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86" name="Google Shape;86;g3b06067da4f_0_38"/>
          <p:cNvSpPr txBox="1">
            <a:spLocks noGrp="1"/>
          </p:cNvSpPr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g3b06067da4f_0_38"/>
          <p:cNvSpPr txBox="1">
            <a:spLocks noGrp="1"/>
          </p:cNvSpPr>
          <p:nvPr>
            <p:ph type="body" idx="1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2192000" cy="171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1302654" y="1809955"/>
            <a:ext cx="9586800" cy="18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buClr>
                <a:schemeClr val="dk2"/>
              </a:buClr>
              <a:buSzPts val="4000"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EEG Analysis with MNE Sample Dataset</a:t>
            </a:r>
            <a:endParaRPr sz="4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subTitle" idx="1"/>
          </p:nvPr>
        </p:nvSpPr>
        <p:spPr>
          <a:xfrm>
            <a:off x="2044993" y="3998084"/>
            <a:ext cx="79236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900" b="1" dirty="0">
                <a:latin typeface="Times New Roman"/>
                <a:ea typeface="Times New Roman"/>
                <a:cs typeface="Times New Roman"/>
                <a:sym typeface="Times New Roman"/>
              </a:rPr>
              <a:t>Presenter: Nguyen Ha </a:t>
            </a:r>
            <a:r>
              <a:rPr lang="en-US" sz="1900" b="1" dirty="0" err="1">
                <a:latin typeface="Times New Roman"/>
                <a:ea typeface="Times New Roman"/>
                <a:cs typeface="Times New Roman"/>
                <a:sym typeface="Times New Roman"/>
              </a:rPr>
              <a:t>Vy</a:t>
            </a:r>
            <a:endParaRPr lang="en-US" sz="19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i="1" dirty="0">
                <a:latin typeface="Times New Roman"/>
                <a:ea typeface="Times New Roman"/>
                <a:cs typeface="Times New Roman"/>
                <a:sym typeface="Times New Roman"/>
              </a:rPr>
              <a:t>Members: Tran Ngoc Mai, Nguyen Do Anh Duong, Bui Phuong Thao, Nguyen Ha Vy</a:t>
            </a:r>
            <a:endParaRPr sz="16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endParaRPr sz="18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endParaRPr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5" name="Google Shape;95;p1"/>
          <p:cNvCxnSpPr/>
          <p:nvPr/>
        </p:nvCxnSpPr>
        <p:spPr>
          <a:xfrm rot="10800000" flipH="1">
            <a:off x="2043711" y="5288776"/>
            <a:ext cx="7923600" cy="8800"/>
          </a:xfrm>
          <a:prstGeom prst="straightConnector1">
            <a:avLst/>
          </a:prstGeom>
          <a:noFill/>
          <a:ln w="19050" cap="flat" cmpd="sng">
            <a:solidFill>
              <a:srgbClr val="00206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6" name="Google Shape;96;p1"/>
          <p:cNvSpPr txBox="1"/>
          <p:nvPr/>
        </p:nvSpPr>
        <p:spPr>
          <a:xfrm>
            <a:off x="3343583" y="3147938"/>
            <a:ext cx="549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Report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-493995" y="1160199"/>
            <a:ext cx="2743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Time-series,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Spring,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" descr="A black and white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30616" y="-848"/>
            <a:ext cx="1473506" cy="159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 descr="A logo with text and dot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08244" y="-2"/>
            <a:ext cx="1597073" cy="1597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 descr="A logo with a map and a red and blue circle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0055" y="96032"/>
            <a:ext cx="1016958" cy="106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 descr="A blue and white logo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31940" y="5457410"/>
            <a:ext cx="2118987" cy="1207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Content</a:t>
            </a:r>
            <a:endParaRPr sz="1400" b="0" i="0" u="none" strike="noStrike" cap="none">
              <a:solidFill>
                <a:srgbClr val="000000"/>
              </a:solidFill>
              <a:latin typeface="+mn-lt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06238" y="1390360"/>
            <a:ext cx="997530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Introduction &amp; Dataset description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Analysis &amp; Findings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Issues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Summary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A8B2B3CF-9A7C-294F-2560-FD343BDA7E87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201919E9-E8F4-3179-F0DA-BF781DC0D186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B1C1A269-9C84-C8C0-EA51-D85D5599C2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9BF1033D-BC05-C5FF-E1B8-34EEEC634DFF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Content</a:t>
            </a:r>
            <a:endParaRPr sz="1400" b="0" i="0" u="none" strike="noStrike" cap="none">
              <a:solidFill>
                <a:srgbClr val="000000"/>
              </a:solidFill>
              <a:latin typeface="+mn-lt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06238" y="1390360"/>
            <a:ext cx="997530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Introduction &amp; Dataset description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ea typeface="Times New Roman"/>
                <a:cs typeface="Times New Roman"/>
                <a:sym typeface="Times New Roman"/>
              </a:rPr>
              <a:t>Analysis &amp; Findings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+mn-lt"/>
                <a:ea typeface="Times New Roman"/>
                <a:cs typeface="Times New Roman"/>
                <a:sym typeface="Times New Roman"/>
              </a:rPr>
              <a:t>Issues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+mn-lt"/>
                <a:ea typeface="Times New Roman"/>
                <a:cs typeface="Times New Roman"/>
                <a:sym typeface="Times New Roman"/>
              </a:rPr>
              <a:t>Summary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F17F3387-E2DD-902F-A464-A34042F9EF2F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FB8670CB-5D89-A23F-4992-B125BFA3AD51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8EEB9985-97FC-3E49-FF61-9A4F2FD738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7250130B-06C0-3D4C-A6B7-5423727BA1B3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7288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US" sz="3200" b="1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Introduction &amp; Dataset description</a:t>
            </a:r>
          </a:p>
        </p:txBody>
      </p:sp>
      <p:sp>
        <p:nvSpPr>
          <p:cNvPr id="112" name="Google Shape;112;p2"/>
          <p:cNvSpPr txBox="1"/>
          <p:nvPr/>
        </p:nvSpPr>
        <p:spPr>
          <a:xfrm>
            <a:off x="802826" y="1935047"/>
            <a:ext cx="10409883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Goal: Explore EEG + eye‑tracking dataset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Understand structure, detect patterns, highlight issues</a:t>
            </a:r>
          </a:p>
        </p:txBody>
      </p:sp>
      <p:sp>
        <p:nvSpPr>
          <p:cNvPr id="11" name="Google Shape;111;p2"/>
          <p:cNvSpPr txBox="1"/>
          <p:nvPr/>
        </p:nvSpPr>
        <p:spPr>
          <a:xfrm>
            <a:off x="-3955612" y="1209926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FF0000"/>
                </a:solidFill>
                <a:latin typeface="+mj-lt"/>
                <a:cs typeface="Times New Roman"/>
                <a:sym typeface="Times New Roman"/>
              </a:rPr>
              <a:t>Introduction</a:t>
            </a:r>
            <a:endParaRPr sz="1400" b="0" i="0" u="none" strike="noStrike" cap="none" dirty="0">
              <a:solidFill>
                <a:srgbClr val="FF0000"/>
              </a:solidFill>
              <a:latin typeface="+mj-lt"/>
              <a:sym typeface="Arial"/>
            </a:endParaRPr>
          </a:p>
        </p:txBody>
      </p:sp>
      <p:sp>
        <p:nvSpPr>
          <p:cNvPr id="12" name="Google Shape;111;p2"/>
          <p:cNvSpPr txBox="1"/>
          <p:nvPr/>
        </p:nvSpPr>
        <p:spPr>
          <a:xfrm>
            <a:off x="-3281121" y="3128805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FF0000"/>
                </a:solidFill>
                <a:latin typeface="+mj-lt"/>
                <a:cs typeface="Times New Roman"/>
                <a:sym typeface="Times New Roman"/>
              </a:rPr>
              <a:t>Dataset description</a:t>
            </a:r>
            <a:endParaRPr sz="1400" b="0" i="0" u="none" strike="noStrike" cap="none" dirty="0">
              <a:solidFill>
                <a:srgbClr val="FF0000"/>
              </a:solidFill>
              <a:latin typeface="+mj-lt"/>
              <a:sym typeface="Arial"/>
            </a:endParaRPr>
          </a:p>
        </p:txBody>
      </p:sp>
      <p:sp>
        <p:nvSpPr>
          <p:cNvPr id="13" name="Google Shape;112;p2"/>
          <p:cNvSpPr txBox="1"/>
          <p:nvPr/>
        </p:nvSpPr>
        <p:spPr>
          <a:xfrm>
            <a:off x="802826" y="3773132"/>
            <a:ext cx="10586347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 err="1">
                <a:solidFill>
                  <a:srgbClr val="1F3B73"/>
                </a:solidFill>
              </a:rPr>
              <a:t>EyeLink</a:t>
            </a:r>
            <a:r>
              <a:rPr lang="en-US" sz="2800" dirty="0">
                <a:solidFill>
                  <a:srgbClr val="1F3B73"/>
                </a:solidFill>
              </a:rPr>
              <a:t> dataset: 129‑channel EEG (EGI) + ASCII eye‑tracking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1F3B73"/>
                </a:solidFill>
              </a:rPr>
              <a:t>Task: Pupillary light reflex (fixation + light flashes)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1F3B73"/>
                </a:solidFill>
              </a:rPr>
              <a:t>Events recorded simultaneously by both systems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4B09D44E-F8CC-81B9-907D-11795F846C84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89CBAEA4-0BE2-D070-A732-C04EA3587ABF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F908BD68-CAA3-6913-B05A-AF1DB4A1EF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0D77CE3E-D38C-E175-D5BC-A1FFEECB85F7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836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DEEE353-3A95-E9E9-EAA8-B8E611EF5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2D63AEB7-3B8A-E2ED-F557-32E408FFF6CA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1C012A3F-66FC-5C2F-3D3E-B757B1D078E0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B439E2D9-1834-2640-C4D2-98FF27A784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879D0A32-8E3B-EA03-8372-3205C4832596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4295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Content</a:t>
            </a:r>
            <a:endParaRPr sz="1400" b="0" i="0" u="none" strike="noStrike" cap="none">
              <a:solidFill>
                <a:srgbClr val="000000"/>
              </a:solidFill>
              <a:latin typeface="+mn-lt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06238" y="1390360"/>
            <a:ext cx="997530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ea typeface="Times New Roman"/>
                <a:cs typeface="Times New Roman"/>
                <a:sym typeface="Times New Roman"/>
              </a:rPr>
              <a:t>Introduction &amp; Dataset description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Analysis &amp; Findings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+mn-lt"/>
                <a:ea typeface="Times New Roman"/>
                <a:cs typeface="Times New Roman"/>
                <a:sym typeface="Times New Roman"/>
              </a:rPr>
              <a:t>Issues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+mn-lt"/>
                <a:ea typeface="Times New Roman"/>
                <a:cs typeface="Times New Roman"/>
                <a:sym typeface="Times New Roman"/>
              </a:rPr>
              <a:t>Summary	</a:t>
            </a:r>
          </a:p>
          <a:p>
            <a:pPr marL="76200" lvl="0">
              <a:buClr>
                <a:srgbClr val="002060"/>
              </a:buClr>
              <a:buSzPts val="2400"/>
            </a:pPr>
            <a:endParaRPr sz="2800" b="0" i="0" u="none" strike="noStrike" cap="none" dirty="0">
              <a:solidFill>
                <a:schemeClr val="bg1">
                  <a:lumMod val="65000"/>
                </a:schemeClr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531D65CD-77C2-EDF7-3C5B-0F76CE70E37F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4B93C6F0-6728-6547-5039-32C09522DFA9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87D7D358-2CF0-F158-92A9-9B69B7F7D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3855EF2B-A101-0D1C-6C2D-D52DC931019D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0730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US" sz="3200" b="1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Analysis steps:</a:t>
            </a:r>
          </a:p>
        </p:txBody>
      </p:sp>
      <p:sp>
        <p:nvSpPr>
          <p:cNvPr id="10" name="Google Shape;112;p2"/>
          <p:cNvSpPr txBox="1"/>
          <p:nvPr/>
        </p:nvSpPr>
        <p:spPr>
          <a:xfrm>
            <a:off x="1108350" y="1371393"/>
            <a:ext cx="10400478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90550" lvl="0" indent="-514350">
              <a:buClr>
                <a:srgbClr val="002060"/>
              </a:buClr>
              <a:buSzPts val="2400"/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Load dataset with MNE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Inspect metadata (duration, sampling rate, channels, events)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Band‑pass filter EEG (1–30 Hz)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Segment the data into epochs around the light flash events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Compute ERPs (average brain response)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+mj-lt"/>
              <a:buAutoNum type="arabicPeriod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Analyze gaze + pupil size vs EEG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endParaRPr lang="en-US" sz="28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endParaRPr lang="en-US" sz="28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B990761A-73C2-641E-44C0-BB6BCADC19F2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DCF9CA9D-6BFC-89B9-B7C0-E09767D385E5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92F73956-4815-A0E0-AF24-93960BD694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F8AFF3C6-FC72-D0EA-4293-30D007DDC791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712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US" sz="3200" b="1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Findings:</a:t>
            </a:r>
          </a:p>
        </p:txBody>
      </p:sp>
      <p:sp>
        <p:nvSpPr>
          <p:cNvPr id="10" name="Google Shape;112;p2"/>
          <p:cNvSpPr txBox="1"/>
          <p:nvPr/>
        </p:nvSpPr>
        <p:spPr>
          <a:xfrm>
            <a:off x="394138" y="938048"/>
            <a:ext cx="6668814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lvl="0">
              <a:buClr>
                <a:srgbClr val="002060"/>
              </a:buClr>
              <a:buSzPts val="2400"/>
            </a:pPr>
            <a:r>
              <a:rPr lang="en-US" sz="24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Channels overview: </a:t>
            </a:r>
          </a:p>
          <a:p>
            <a:pPr marL="533400" lvl="0" indent="-457200">
              <a:buClr>
                <a:srgbClr val="002060"/>
              </a:buClr>
              <a:buSzPts val="2400"/>
              <a:buFontTx/>
              <a:buChar char="-"/>
            </a:pPr>
            <a:r>
              <a:rPr lang="en-US" sz="2400" dirty="0">
                <a:solidFill>
                  <a:srgbClr val="002060"/>
                </a:solidFill>
              </a:rPr>
              <a:t>3 extra channels, 1 stimulus channel, 2 channels for eye position, and 1 channel for pupil size</a:t>
            </a:r>
          </a:p>
          <a:p>
            <a:pPr marL="533400" lvl="0" indent="-457200">
              <a:buClr>
                <a:srgbClr val="002060"/>
              </a:buClr>
              <a:buSzPts val="2400"/>
              <a:buFontTx/>
              <a:buChar char="-"/>
            </a:pPr>
            <a:r>
              <a:rPr lang="en-US" sz="24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No digitization → limits source localization.</a:t>
            </a:r>
          </a:p>
          <a:p>
            <a:pPr marL="76200" lvl="0">
              <a:buClr>
                <a:srgbClr val="002060"/>
              </a:buClr>
              <a:buSzPts val="2400"/>
            </a:pPr>
            <a:r>
              <a:rPr lang="en-US" sz="24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Filter applied: </a:t>
            </a:r>
          </a:p>
          <a:p>
            <a:pPr marL="533400" lvl="0" indent="-457200">
              <a:buClr>
                <a:srgbClr val="002060"/>
              </a:buClr>
              <a:buSzPts val="2400"/>
              <a:buFontTx/>
              <a:buChar char="-"/>
            </a:pPr>
            <a:r>
              <a:rPr lang="en-US" sz="24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Acquisition: 0 Hz high‑pass, 500 Hz low‑pass. </a:t>
            </a:r>
          </a:p>
          <a:p>
            <a:pPr marL="533400" lvl="0" indent="-457200">
              <a:buClr>
                <a:srgbClr val="002060"/>
              </a:buClr>
              <a:buSzPts val="2400"/>
              <a:buFontTx/>
              <a:buChar char="-"/>
            </a:pPr>
            <a:r>
              <a:rPr lang="en-US" sz="24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Raw signal wide range → preprocessing needed.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B990761A-73C2-641E-44C0-BB6BCADC19F2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DCF9CA9D-6BFC-89B9-B7C0-E09767D385E5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92F73956-4815-A0E0-AF24-93960BD694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F8AFF3C6-FC72-D0EA-4293-30D007DDC791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AutoShape 4" descr="blob:https://chat.zalo.me/35e9f471-34dd-4caa-bcfb-d9da32ec1d3f"/>
          <p:cNvSpPr>
            <a:spLocks noChangeAspect="1" noChangeArrowheads="1"/>
          </p:cNvSpPr>
          <p:nvPr/>
        </p:nvSpPr>
        <p:spPr bwMode="auto">
          <a:xfrm>
            <a:off x="155574" y="-144463"/>
            <a:ext cx="2446221" cy="244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C843F1-FCCE-241B-1963-A76D5C866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952" y="938048"/>
            <a:ext cx="6182089" cy="4573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56743-0FD8-A74C-1EDE-CAD2F0799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442" y="5331746"/>
            <a:ext cx="4437009" cy="115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88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Content</a:t>
            </a:r>
            <a:endParaRPr sz="1400" b="0" i="0" u="none" strike="noStrike" cap="none">
              <a:solidFill>
                <a:srgbClr val="000000"/>
              </a:solidFill>
              <a:latin typeface="+mn-lt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06238" y="1390360"/>
            <a:ext cx="997530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ea typeface="Times New Roman"/>
                <a:cs typeface="Times New Roman"/>
                <a:sym typeface="Times New Roman"/>
              </a:rPr>
              <a:t>Introduction &amp; Dataset description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ea typeface="Times New Roman"/>
                <a:cs typeface="Times New Roman"/>
                <a:sym typeface="Times New Roman"/>
              </a:rPr>
              <a:t>Analysis &amp; Findings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1F3B73"/>
                </a:solidFill>
                <a:latin typeface="+mn-lt"/>
                <a:ea typeface="Times New Roman"/>
                <a:cs typeface="Times New Roman"/>
                <a:sym typeface="Times New Roman"/>
              </a:rPr>
              <a:t>Issues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+mn-lt"/>
                <a:ea typeface="Times New Roman"/>
                <a:cs typeface="Times New Roman"/>
                <a:sym typeface="Times New Roman"/>
              </a:rPr>
              <a:t>Summary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56CCF973-E39A-92C5-096B-4530561B9EA7}"/>
              </a:ext>
            </a:extLst>
          </p:cNvPr>
          <p:cNvSpPr/>
          <p:nvPr/>
        </p:nvSpPr>
        <p:spPr>
          <a:xfrm>
            <a:off x="-4527" y="6554236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D06B1FE8-4361-0049-D8FF-B8117C249F8D}"/>
              </a:ext>
            </a:extLst>
          </p:cNvPr>
          <p:cNvSpPr txBox="1"/>
          <p:nvPr/>
        </p:nvSpPr>
        <p:spPr>
          <a:xfrm>
            <a:off x="8906352" y="6554236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E214206F-DE8D-3E0A-77AF-46C14CF61A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4273" y="65781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B49BD139-C2FC-34F0-9B7B-8F0734F841DA}"/>
              </a:ext>
            </a:extLst>
          </p:cNvPr>
          <p:cNvSpPr txBox="1"/>
          <p:nvPr/>
        </p:nvSpPr>
        <p:spPr>
          <a:xfrm>
            <a:off x="-9054" y="6554246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2527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US" sz="3200" b="1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Issues:</a:t>
            </a:r>
          </a:p>
        </p:txBody>
      </p:sp>
      <p:sp>
        <p:nvSpPr>
          <p:cNvPr id="10" name="Google Shape;112;p2"/>
          <p:cNvSpPr txBox="1"/>
          <p:nvPr/>
        </p:nvSpPr>
        <p:spPr>
          <a:xfrm>
            <a:off x="933723" y="1613159"/>
            <a:ext cx="10400478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No participant information, so we cannot do subject‑specific analysis.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No head or sensor position data, so we cannot locate brain sources.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The wide frequency range means noise and artifacts are present, so careful filtering is needed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endParaRPr lang="en-US" sz="2800" dirty="0">
              <a:solidFill>
                <a:srgbClr val="00206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B990761A-73C2-641E-44C0-BB6BCADC19F2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DCF9CA9D-6BFC-89B9-B7C0-E09767D385E5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92F73956-4815-A0E0-AF24-93960BD694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F8AFF3C6-FC72-D0EA-4293-30D007DDC791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695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Content</a:t>
            </a:r>
            <a:endParaRPr sz="1400" b="0" i="0" u="none" strike="noStrike" cap="none">
              <a:solidFill>
                <a:srgbClr val="000000"/>
              </a:solidFill>
              <a:latin typeface="+mn-lt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06238" y="1390360"/>
            <a:ext cx="9975300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ea typeface="Times New Roman"/>
                <a:cs typeface="Times New Roman"/>
                <a:sym typeface="Times New Roman"/>
              </a:rPr>
              <a:t>Introduction &amp; Dataset description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ea typeface="Times New Roman"/>
                <a:cs typeface="Times New Roman"/>
                <a:sym typeface="Times New Roman"/>
              </a:rPr>
              <a:t>Analysis &amp; Findings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+mn-lt"/>
                <a:ea typeface="Times New Roman"/>
                <a:cs typeface="Times New Roman"/>
                <a:sym typeface="Times New Roman"/>
              </a:rPr>
              <a:t>Issues</a:t>
            </a:r>
          </a:p>
          <a:p>
            <a:pPr marL="457200" lvl="0" indent="-381000"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Summary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56CCF973-E39A-92C5-096B-4530561B9EA7}"/>
              </a:ext>
            </a:extLst>
          </p:cNvPr>
          <p:cNvSpPr/>
          <p:nvPr/>
        </p:nvSpPr>
        <p:spPr>
          <a:xfrm>
            <a:off x="-4527" y="6554236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D06B1FE8-4361-0049-D8FF-B8117C249F8D}"/>
              </a:ext>
            </a:extLst>
          </p:cNvPr>
          <p:cNvSpPr txBox="1"/>
          <p:nvPr/>
        </p:nvSpPr>
        <p:spPr>
          <a:xfrm>
            <a:off x="8906352" y="6554236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E214206F-DE8D-3E0A-77AF-46C14CF61A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4273" y="65781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B49BD139-C2FC-34F0-9B7B-8F0734F841DA}"/>
              </a:ext>
            </a:extLst>
          </p:cNvPr>
          <p:cNvSpPr txBox="1"/>
          <p:nvPr/>
        </p:nvSpPr>
        <p:spPr>
          <a:xfrm>
            <a:off x="-9054" y="6554246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20535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US" sz="3200" b="1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Summary:</a:t>
            </a:r>
          </a:p>
        </p:txBody>
      </p:sp>
      <p:sp>
        <p:nvSpPr>
          <p:cNvPr id="10" name="Google Shape;112;p2"/>
          <p:cNvSpPr txBox="1"/>
          <p:nvPr/>
        </p:nvSpPr>
        <p:spPr>
          <a:xfrm>
            <a:off x="681060" y="1095496"/>
            <a:ext cx="10400478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90550" lvl="0" indent="-514350"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Dataset rich in EEG + eye‑tracking, high resolution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Preprocessing needed to address metadata gaps &amp; noise</a:t>
            </a:r>
          </a:p>
          <a:p>
            <a:pPr marL="590550" lvl="0" indent="-514350">
              <a:buClr>
                <a:srgbClr val="00206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+mn-lt"/>
                <a:ea typeface="Times New Roman"/>
                <a:cs typeface="Times New Roman"/>
                <a:sym typeface="Times New Roman"/>
              </a:rPr>
              <a:t>Next: detailed event‑related analysis</a:t>
            </a: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B990761A-73C2-641E-44C0-BB6BCADC19F2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DCF9CA9D-6BFC-89B9-B7C0-E09767D385E5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92F73956-4815-A0E0-AF24-93960BD694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F8AFF3C6-FC72-D0EA-4293-30D007DDC791}"/>
              </a:ext>
            </a:extLst>
          </p:cNvPr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7867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31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1"/>
          <p:cNvSpPr txBox="1">
            <a:spLocks noGrp="1"/>
          </p:cNvSpPr>
          <p:nvPr>
            <p:ph type="sldNum" idx="12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400" b="1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31"/>
          <p:cNvSpPr txBox="1"/>
          <p:nvPr/>
        </p:nvSpPr>
        <p:spPr>
          <a:xfrm>
            <a:off x="-4522" y="6492239"/>
            <a:ext cx="11593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1"/>
          <p:cNvSpPr txBox="1"/>
          <p:nvPr/>
        </p:nvSpPr>
        <p:spPr>
          <a:xfrm>
            <a:off x="158151" y="2224262"/>
            <a:ext cx="1219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50A5BBEF-A865-7784-8197-945B8B7B24E2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6698ABFC-88EE-5406-D26D-20F83957D14B}"/>
              </a:ext>
            </a:extLst>
          </p:cNvPr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23BE9D1F-FE05-17C5-650A-A018A2524482}"/>
              </a:ext>
            </a:extLst>
          </p:cNvPr>
          <p:cNvSpPr txBox="1">
            <a:spLocks/>
          </p:cNvSpPr>
          <p:nvPr/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fld id="{00000000-1234-1234-1234-123412341234}" type="slidenum">
              <a:rPr lang="en-US" sz="1400" b="1" smtClean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>
                <a:buSzPts val="1400"/>
              </a:pPr>
              <a:t>13</a:t>
            </a:fld>
            <a:endParaRPr lang="en-US" sz="1400" b="1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239F7F0B-45FD-F7E9-70FF-556C62F9C107}"/>
              </a:ext>
            </a:extLst>
          </p:cNvPr>
          <p:cNvSpPr txBox="1"/>
          <p:nvPr/>
        </p:nvSpPr>
        <p:spPr>
          <a:xfrm>
            <a:off x="-4527" y="6492250"/>
            <a:ext cx="25707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399</Words>
  <Application>Microsoft Office PowerPoint</Application>
  <PresentationFormat>Widescreen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Play</vt:lpstr>
      <vt:lpstr>Calibri</vt:lpstr>
      <vt:lpstr>Arial</vt:lpstr>
      <vt:lpstr>Times New Roman</vt:lpstr>
      <vt:lpstr>office theme</vt:lpstr>
      <vt:lpstr>EEG Analysis with MNE Sample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Name</dc:title>
  <dc:creator>Hi</dc:creator>
  <cp:lastModifiedBy>Nguyen Ha Vy</cp:lastModifiedBy>
  <cp:revision>21</cp:revision>
  <dcterms:created xsi:type="dcterms:W3CDTF">2025-03-17T07:41:48Z</dcterms:created>
  <dcterms:modified xsi:type="dcterms:W3CDTF">2026-01-22T07:15:32Z</dcterms:modified>
</cp:coreProperties>
</file>