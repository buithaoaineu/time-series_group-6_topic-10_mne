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6858000" cy="9144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g6VxuzeR/dGWXCNZc8zEIoRkkg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ADBD24-1411-4194-B645-D80E0E641AEF}">
  <a:tblStyle styleId="{B9ADBD24-1411-4194-B645-D80E0E641A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Play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90488" y="744538"/>
            <a:ext cx="6618287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a5cbaa83a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da5cbaa83a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da5cbaa83a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9e0d63d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29e0d63d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d29e0d63d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a5cbaa83a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a5cbaa83a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a5cbaa83a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5cbaa83a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a5cbaa83a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da5cbaa83a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681c68941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9681c68941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9681c68941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681c6894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681c6894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9681c6894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a5cbaa83a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da5cbaa83a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da5cbaa83a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a5cbaa83a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a5cbaa83a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da5cbaa83a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a5cbaa83a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3da5cbaa83a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da5cbaa83a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681c68941_2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9681c68941_2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9681c68941_2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681c68941_2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681c68941_2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9681c68941_2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681c68941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9681c68941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g39681c68941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29e0d63de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d29e0d63de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d29e0d63de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29e0d63de_1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d29e0d63de_1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d29e0d63de_1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681c68941_2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9681c68941_2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9681c68941_2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29e0d63de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d29e0d63de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3d29e0d63de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29e0d63de_1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d29e0d63de_1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g3d29e0d63de_1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681c68941_2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9681c68941_2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9681c68941_2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d29e0d63de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d29e0d63de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d29e0d63de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29e0d63de_1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d29e0d63de_1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d29e0d63de_1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d29e0d63de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g3d29e0d63de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g3d29e0d63de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681c6894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9681c6894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39681c6894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29e0d63de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d29e0d63de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3d29e0d63de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Buithaoaineu/Time-Series_Group-6_Topic-10_MN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r>
              <a:rPr b="1" lang="en-US" sz="4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EEG Analysis with MNE Sample Dataset</a:t>
            </a:r>
            <a:endParaRPr b="1" sz="4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b="1" lang="en-US" sz="1900"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Members: Tran Ngoc Mai, Nguyen Do Anh Duong, Bui Phuong Thao, Nguyen Ha Vy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flipH="1" rot="10800000">
            <a:off x="2043711" y="5288776"/>
            <a:ext cx="7923600" cy="8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Report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Time-series,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Spring,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AI-generated content may be incorrect.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0616" y="-848"/>
            <a:ext cx="1473506" cy="15987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text and dots&#10;&#10;AI-generated content may be incorrect.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08244" y="-2"/>
            <a:ext cx="1597073" cy="1597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go with a map and a red and blue circle&#10;&#10;AI-generated content may be incorrect.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055" y="96032"/>
            <a:ext cx="1016958" cy="1060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logo&#10;&#10;AI-generated content may be incorrect.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31940" y="5457410"/>
            <a:ext cx="2118987" cy="1207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0" y="15924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106238" y="1390360"/>
            <a:ext cx="9975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Problem Definition &amp; Motivation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Methodology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Results &amp; Future work</a:t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5cbaa83a_0_3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a5cbaa83a_0_3"/>
          <p:cNvSpPr txBox="1"/>
          <p:nvPr/>
        </p:nvSpPr>
        <p:spPr>
          <a:xfrm>
            <a:off x="1106238" y="1390360"/>
            <a:ext cx="9975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Problem Definition &amp; Motivation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Methodology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Results &amp; Future work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20" name="Google Shape;120;g3da5cbaa83a_0_3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da5cbaa83a_0_3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22" name="Google Shape;122;g3da5cbaa83a_0_3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da5cbaa83a_0_3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Background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700500" y="1115675"/>
            <a:ext cx="10791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EEG records brain activity through electrodes placed on the scalp </a:t>
            </a:r>
            <a:r>
              <a:rPr lang="en-US" sz="2800">
                <a:solidFill>
                  <a:srgbClr val="002060"/>
                </a:solidFill>
              </a:rPr>
              <a:t>and is widely used in healthcare and neuroscience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Macro: reduces healthcare costs, improves research productivity, and lowers risks in clinical planning.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Societal: earlier diagnosis, safer patient monitoring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Practical: detect abnormalities faster, better experiments, brain–computer interfaces are more reliable.</a:t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33" name="Google Shape;133;p4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29e0d63de_0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Challenges</a:t>
            </a:r>
            <a:endParaRPr/>
          </a:p>
        </p:txBody>
      </p:sp>
      <p:sp>
        <p:nvSpPr>
          <p:cNvPr id="141" name="Google Shape;141;g3d29e0d63de_0_0"/>
          <p:cNvSpPr txBox="1"/>
          <p:nvPr/>
        </p:nvSpPr>
        <p:spPr>
          <a:xfrm>
            <a:off x="700500" y="1115675"/>
            <a:ext cx="10791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EEG signals are complex to analyze.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Specialized technical complexity and multi-channel signals.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Transforming EEG data into suitable formats for predicting model training</a:t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142" name="Google Shape;142;g3d29e0d63de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d29e0d63de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44" name="Google Shape;144;g3d29e0d63de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g3d29e0d63de_0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g3d29e0d63de_0_0"/>
          <p:cNvSpPr txBox="1"/>
          <p:nvPr/>
        </p:nvSpPr>
        <p:spPr>
          <a:xfrm>
            <a:off x="0" y="313649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Motivation</a:t>
            </a:r>
            <a:endParaRPr/>
          </a:p>
        </p:txBody>
      </p:sp>
      <p:sp>
        <p:nvSpPr>
          <p:cNvPr id="147" name="Google Shape;147;g3d29e0d63de_0_0"/>
          <p:cNvSpPr txBox="1"/>
          <p:nvPr/>
        </p:nvSpPr>
        <p:spPr>
          <a:xfrm>
            <a:off x="700500" y="4168900"/>
            <a:ext cx="10791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</a:rPr>
              <a:t>Applying systematic preprocessing and time‑series modeling to transform noisy EEG into reliable features for classification of brain states.</a:t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5cbaa83a_0_62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da5cbaa83a_0_62"/>
          <p:cNvSpPr txBox="1"/>
          <p:nvPr/>
        </p:nvSpPr>
        <p:spPr>
          <a:xfrm>
            <a:off x="1106238" y="1390360"/>
            <a:ext cx="9975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Problem Definition &amp; Motivation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Methodology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Results &amp; Future work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155" name="Google Shape;155;g3da5cbaa83a_0_6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da5cbaa83a_0_62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57" name="Google Shape;157;g3da5cbaa83a_0_62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da5cbaa83a_0_6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a5cbaa83a_0_84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Dataset - MNE’s EYELINK</a:t>
            </a:r>
            <a:endParaRPr/>
          </a:p>
        </p:txBody>
      </p:sp>
      <p:sp>
        <p:nvSpPr>
          <p:cNvPr id="165" name="Google Shape;165;g3da5cbaa83a_0_84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da5cbaa83a_0_84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67" name="Google Shape;167;g3da5cbaa83a_0_84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g3da5cbaa83a_0_84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g3da5cbaa83a_0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4500" y="2101062"/>
            <a:ext cx="4723451" cy="26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da5cbaa83a_0_84"/>
          <p:cNvSpPr txBox="1"/>
          <p:nvPr/>
        </p:nvSpPr>
        <p:spPr>
          <a:xfrm>
            <a:off x="447250" y="2129850"/>
            <a:ext cx="6145500" cy="25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Duration/size: 192 seconds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Sampling frequency: 1000Hz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Target variable: “label” </a:t>
            </a:r>
            <a:endParaRPr sz="2800">
              <a:solidFill>
                <a:srgbClr val="00206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</a:rPr>
              <a:t>0 = ‘normal’, 1 = ‘blink’</a:t>
            </a:r>
            <a:endParaRPr sz="2800">
              <a:solidFill>
                <a:srgbClr val="002060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Train-test rate: 0.8-0.2</a:t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81c68941_1_11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Data insights</a:t>
            </a:r>
            <a:endParaRPr/>
          </a:p>
        </p:txBody>
      </p:sp>
      <p:sp>
        <p:nvSpPr>
          <p:cNvPr id="177" name="Google Shape;177;g39681c68941_1_1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g39681c68941_1_1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79" name="Google Shape;179;g39681c68941_1_11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g39681c68941_1_11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1" name="Google Shape;181;g39681c68941_1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25" y="744238"/>
            <a:ext cx="5366825" cy="55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9681c68941_1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975" y="680012"/>
            <a:ext cx="5244073" cy="287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9681c68941_1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1975" y="3658288"/>
            <a:ext cx="5244073" cy="275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681c68941_1_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Training</a:t>
            </a:r>
            <a:endParaRPr/>
          </a:p>
        </p:txBody>
      </p:sp>
      <p:sp>
        <p:nvSpPr>
          <p:cNvPr id="190" name="Google Shape;190;g39681c68941_1_0"/>
          <p:cNvSpPr txBox="1"/>
          <p:nvPr/>
        </p:nvSpPr>
        <p:spPr>
          <a:xfrm>
            <a:off x="1017163" y="1363075"/>
            <a:ext cx="10734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Duration: 175 seconds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Sampling frequency: 1000Hz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Filtered: 1-40Hz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Target variable: ‘labels’ 0: ‘normal’; 1: ‘blink’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Raw set; cleaned set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Create epochs in 2 seconds long and overlap = 0.5 seconds.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Train/test split: 8/2</a:t>
            </a:r>
            <a:endParaRPr sz="2800">
              <a:solidFill>
                <a:srgbClr val="1F3B73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191" name="Google Shape;191;g39681c68941_1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g39681c68941_1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193" name="Google Shape;193;g39681c68941_1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9681c68941_1_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g39681c68941_1_0"/>
          <p:cNvSpPr txBox="1"/>
          <p:nvPr/>
        </p:nvSpPr>
        <p:spPr>
          <a:xfrm>
            <a:off x="439931" y="1257975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</a:rPr>
              <a:t>Preparation for </a:t>
            </a:r>
            <a:r>
              <a:rPr b="1" lang="en-US" sz="3200">
                <a:solidFill>
                  <a:srgbClr val="FF0000"/>
                </a:solidFill>
              </a:rPr>
              <a:t>training</a:t>
            </a:r>
            <a:endParaRPr b="1"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a5cbaa83a_0_96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Training</a:t>
            </a:r>
            <a:endParaRPr/>
          </a:p>
        </p:txBody>
      </p:sp>
      <p:sp>
        <p:nvSpPr>
          <p:cNvPr id="202" name="Google Shape;202;g3da5cbaa83a_0_96"/>
          <p:cNvSpPr txBox="1"/>
          <p:nvPr/>
        </p:nvSpPr>
        <p:spPr>
          <a:xfrm>
            <a:off x="811663" y="1468875"/>
            <a:ext cx="10734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Train both clean and raw set with the same model variables to find the best model within: SVM, Logistic regression, Decision tree, Random forest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Comparing their metrics to figure </a:t>
            </a:r>
            <a:r>
              <a:rPr lang="en-US" sz="2800">
                <a:solidFill>
                  <a:srgbClr val="1F3B73"/>
                </a:solidFill>
              </a:rPr>
              <a:t>the most suitable sets </a:t>
            </a:r>
            <a:endParaRPr sz="2800">
              <a:solidFill>
                <a:srgbClr val="1F3B7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FF0000"/>
              </a:solidFill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203" name="Google Shape;203;g3da5cbaa83a_0_96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g3da5cbaa83a_0_96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05" name="Google Shape;205;g3da5cbaa83a_0_96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g3da5cbaa83a_0_96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g3da5cbaa83a_0_96"/>
          <p:cNvSpPr txBox="1"/>
          <p:nvPr/>
        </p:nvSpPr>
        <p:spPr>
          <a:xfrm>
            <a:off x="-516044" y="127185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</a:rPr>
              <a:t>Strategy</a:t>
            </a:r>
            <a:endParaRPr b="1" sz="3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a5cbaa83a_0_72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da5cbaa83a_0_72"/>
          <p:cNvSpPr txBox="1"/>
          <p:nvPr/>
        </p:nvSpPr>
        <p:spPr>
          <a:xfrm>
            <a:off x="1106238" y="1390360"/>
            <a:ext cx="9975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Problem Definition &amp; Motivation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●"/>
            </a:pPr>
            <a:r>
              <a:rPr lang="en-US" sz="2800">
                <a:solidFill>
                  <a:schemeClr val="lt2"/>
                </a:solidFill>
              </a:rPr>
              <a:t>Methodology</a:t>
            </a:r>
            <a:endParaRPr sz="2800">
              <a:solidFill>
                <a:schemeClr val="lt2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●"/>
            </a:pPr>
            <a:r>
              <a:rPr lang="en-US" sz="2800">
                <a:solidFill>
                  <a:srgbClr val="002060"/>
                </a:solidFill>
              </a:rPr>
              <a:t>Results &amp; Future work</a:t>
            </a:r>
            <a:endParaRPr sz="2800">
              <a:solidFill>
                <a:srgbClr val="002060"/>
              </a:solidFill>
            </a:endParaRPr>
          </a:p>
        </p:txBody>
      </p:sp>
      <p:sp>
        <p:nvSpPr>
          <p:cNvPr id="215" name="Google Shape;215;g3da5cbaa83a_0_7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g3da5cbaa83a_0_72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17" name="Google Shape;217;g3da5cbaa83a_0_72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3da5cbaa83a_0_7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a5cbaa83a_0_26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 &amp; Future work</a:t>
            </a:r>
            <a:endParaRPr/>
          </a:p>
        </p:txBody>
      </p:sp>
      <p:sp>
        <p:nvSpPr>
          <p:cNvPr id="225" name="Google Shape;225;g3da5cbaa83a_0_26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g3da5cbaa83a_0_26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27" name="Google Shape;227;g3da5cbaa83a_0_26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g3da5cbaa83a_0_26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g3da5cbaa83a_0_26"/>
          <p:cNvSpPr txBox="1"/>
          <p:nvPr/>
        </p:nvSpPr>
        <p:spPr>
          <a:xfrm>
            <a:off x="-266669" y="1313425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</a:rPr>
              <a:t>   </a:t>
            </a:r>
            <a:r>
              <a:rPr b="1" lang="en-US" sz="3200">
                <a:solidFill>
                  <a:srgbClr val="FF0000"/>
                </a:solidFill>
              </a:rPr>
              <a:t>Results: SVM</a:t>
            </a:r>
            <a:endParaRPr b="1" sz="3200">
              <a:solidFill>
                <a:srgbClr val="FF0000"/>
              </a:solidFill>
            </a:endParaRPr>
          </a:p>
        </p:txBody>
      </p:sp>
      <p:graphicFrame>
        <p:nvGraphicFramePr>
          <p:cNvPr id="230" name="Google Shape;230;g3da5cbaa83a_0_26"/>
          <p:cNvGraphicFramePr/>
          <p:nvPr/>
        </p:nvGraphicFramePr>
        <p:xfrm>
          <a:off x="1252750" y="256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{B9ADBD24-1411-4194-B645-D80E0E641AEF}</a:tableStyleId>
              </a:tblPr>
              <a:tblGrid>
                <a:gridCol w="2313575"/>
                <a:gridCol w="2702675"/>
                <a:gridCol w="2313850"/>
                <a:gridCol w="2356400"/>
              </a:tblGrid>
              <a:tr h="741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Dataset</a:t>
                      </a:r>
                      <a:endParaRPr b="1"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Precision</a:t>
                      </a:r>
                      <a:endParaRPr b="1"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1435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Recall</a:t>
                      </a:r>
                      <a:endParaRPr b="1"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571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2060"/>
                          </a:solidFill>
                        </a:rPr>
                        <a:t>F1-score</a:t>
                      </a:r>
                      <a:endParaRPr b="1"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Raw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0.71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0.56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0.62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Clean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0.75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0.83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02060"/>
                          </a:solidFill>
                        </a:rPr>
                        <a:t>0.79</a:t>
                      </a:r>
                      <a:endParaRPr sz="2800">
                        <a:solidFill>
                          <a:srgbClr val="00206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681c68941_2_43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Results: SVM</a:t>
            </a:r>
            <a:endParaRPr/>
          </a:p>
        </p:txBody>
      </p:sp>
      <p:sp>
        <p:nvSpPr>
          <p:cNvPr id="237" name="Google Shape;237;g39681c68941_2_43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39681c68941_2_43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39" name="Google Shape;239;g39681c68941_2_43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g39681c68941_2_43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1" name="Google Shape;241;g39681c68941_2_4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600" y="999934"/>
            <a:ext cx="5186150" cy="445169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9681c68941_2_43"/>
          <p:cNvSpPr txBox="1"/>
          <p:nvPr/>
        </p:nvSpPr>
        <p:spPr>
          <a:xfrm>
            <a:off x="272081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Raw Data</a:t>
            </a:r>
            <a:endParaRPr b="1" sz="3200">
              <a:solidFill>
                <a:srgbClr val="002060"/>
              </a:solidFill>
            </a:endParaRPr>
          </a:p>
        </p:txBody>
      </p:sp>
      <p:sp>
        <p:nvSpPr>
          <p:cNvPr id="243" name="Google Shape;243;g39681c68941_2_43"/>
          <p:cNvSpPr txBox="1"/>
          <p:nvPr/>
        </p:nvSpPr>
        <p:spPr>
          <a:xfrm>
            <a:off x="6050368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 Clean Data</a:t>
            </a:r>
            <a:endParaRPr b="1" sz="3200">
              <a:solidFill>
                <a:srgbClr val="002060"/>
              </a:solidFill>
            </a:endParaRPr>
          </a:p>
        </p:txBody>
      </p:sp>
      <p:pic>
        <p:nvPicPr>
          <p:cNvPr id="244" name="Google Shape;244;g39681c68941_2_43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50" y="999929"/>
            <a:ext cx="5186150" cy="4451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681c68941_2_57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SVM </a:t>
            </a:r>
            <a:endParaRPr/>
          </a:p>
        </p:txBody>
      </p:sp>
      <p:sp>
        <p:nvSpPr>
          <p:cNvPr id="251" name="Google Shape;251;g39681c68941_2_57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9681c68941_2_57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53" name="Google Shape;253;g39681c68941_2_57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g39681c68941_2_57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g39681c68941_2_5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900" y="768207"/>
            <a:ext cx="5632401" cy="574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39681c68941_2_5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375" y="744250"/>
            <a:ext cx="5632410" cy="57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681c68941_2_8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Results &amp; Future work</a:t>
            </a:r>
            <a:endParaRPr/>
          </a:p>
        </p:txBody>
      </p:sp>
      <p:sp>
        <p:nvSpPr>
          <p:cNvPr id="263" name="Google Shape;263;g39681c68941_2_8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39681c68941_2_8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65" name="Google Shape;265;g39681c68941_2_8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g39681c68941_2_8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g39681c68941_2_8"/>
          <p:cNvSpPr txBox="1"/>
          <p:nvPr/>
        </p:nvSpPr>
        <p:spPr>
          <a:xfrm>
            <a:off x="-266678" y="1313425"/>
            <a:ext cx="849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</a:rPr>
              <a:t> </a:t>
            </a:r>
            <a:r>
              <a:rPr b="1" lang="en-US" sz="3200">
                <a:solidFill>
                  <a:srgbClr val="FF0000"/>
                </a:solidFill>
              </a:rPr>
              <a:t>Results: </a:t>
            </a:r>
            <a:r>
              <a:rPr b="1" lang="en-US" sz="3200">
                <a:solidFill>
                  <a:srgbClr val="FF0000"/>
                </a:solidFill>
                <a:highlight>
                  <a:srgbClr val="FFFFFF"/>
                </a:highlight>
              </a:rPr>
              <a:t>Logistic Regression</a:t>
            </a:r>
            <a:endParaRPr b="1" sz="3200">
              <a:solidFill>
                <a:srgbClr val="FF0000"/>
              </a:solidFill>
            </a:endParaRPr>
          </a:p>
        </p:txBody>
      </p:sp>
      <p:graphicFrame>
        <p:nvGraphicFramePr>
          <p:cNvPr id="268" name="Google Shape;268;g39681c68941_2_8"/>
          <p:cNvGraphicFramePr/>
          <p:nvPr/>
        </p:nvGraphicFramePr>
        <p:xfrm>
          <a:off x="1252750" y="256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{B9ADBD24-1411-4194-B645-D80E0E641AEF}</a:tableStyleId>
              </a:tblPr>
              <a:tblGrid>
                <a:gridCol w="3102400"/>
                <a:gridCol w="2316300"/>
                <a:gridCol w="2104575"/>
                <a:gridCol w="2163225"/>
              </a:tblGrid>
              <a:tr h="741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Dataset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Precision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1435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Recall</a:t>
                      </a:r>
                      <a:endParaRPr b="1" sz="2800"/>
                    </a:p>
                  </a:txBody>
                  <a:tcPr marT="91425" marB="91425" marR="91425" marL="571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F1-score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Raw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0.59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0.50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0.58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Clean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0.86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0.67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0.75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29e0d63de_1_6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Logistic regression</a:t>
            </a:r>
            <a:endParaRPr/>
          </a:p>
        </p:txBody>
      </p:sp>
      <p:sp>
        <p:nvSpPr>
          <p:cNvPr id="275" name="Google Shape;275;g3d29e0d63de_1_6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3d29e0d63de_1_6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77" name="Google Shape;277;g3d29e0d63de_1_6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g3d29e0d63de_1_6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3d29e0d63de_1_6"/>
          <p:cNvSpPr txBox="1"/>
          <p:nvPr/>
        </p:nvSpPr>
        <p:spPr>
          <a:xfrm>
            <a:off x="272081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Raw Data</a:t>
            </a:r>
            <a:endParaRPr b="1" sz="3200">
              <a:solidFill>
                <a:srgbClr val="002060"/>
              </a:solidFill>
            </a:endParaRPr>
          </a:p>
        </p:txBody>
      </p:sp>
      <p:sp>
        <p:nvSpPr>
          <p:cNvPr id="280" name="Google Shape;280;g3d29e0d63de_1_6"/>
          <p:cNvSpPr txBox="1"/>
          <p:nvPr/>
        </p:nvSpPr>
        <p:spPr>
          <a:xfrm>
            <a:off x="6050368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 Clean Data</a:t>
            </a:r>
            <a:endParaRPr b="1" sz="3200">
              <a:solidFill>
                <a:srgbClr val="002060"/>
              </a:solidFill>
            </a:endParaRPr>
          </a:p>
        </p:txBody>
      </p:sp>
      <p:pic>
        <p:nvPicPr>
          <p:cNvPr id="281" name="Google Shape;281;g3d29e0d63de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9625" y="992450"/>
            <a:ext cx="5651540" cy="43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d29e0d63de_1_6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75" y="992432"/>
            <a:ext cx="5651550" cy="4394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29e0d63de_1_21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Logistic regression</a:t>
            </a:r>
            <a:endParaRPr/>
          </a:p>
        </p:txBody>
      </p:sp>
      <p:sp>
        <p:nvSpPr>
          <p:cNvPr id="289" name="Google Shape;289;g3d29e0d63de_1_2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g3d29e0d63de_1_2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291" name="Google Shape;291;g3d29e0d63de_1_21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g3d29e0d63de_1_21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g3d29e0d63de_1_21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5850"/>
            <a:ext cx="5532871" cy="564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g3d29e0d63de_1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9420" y="845840"/>
            <a:ext cx="4391045" cy="448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d29e0d63de_1_21" title="downlo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6625" y="869777"/>
            <a:ext cx="5532875" cy="5646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681c68941_2_21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Results &amp; Future work</a:t>
            </a:r>
            <a:endParaRPr/>
          </a:p>
        </p:txBody>
      </p:sp>
      <p:sp>
        <p:nvSpPr>
          <p:cNvPr id="302" name="Google Shape;302;g39681c68941_2_2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g39681c68941_2_2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04" name="Google Shape;304;g39681c68941_2_21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9681c68941_2_21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g39681c68941_2_21"/>
          <p:cNvSpPr txBox="1"/>
          <p:nvPr/>
        </p:nvSpPr>
        <p:spPr>
          <a:xfrm>
            <a:off x="-266678" y="1313425"/>
            <a:ext cx="849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</a:rPr>
              <a:t>       </a:t>
            </a:r>
            <a:r>
              <a:rPr b="1" lang="en-US" sz="3200">
                <a:solidFill>
                  <a:srgbClr val="FF0000"/>
                </a:solidFill>
              </a:rPr>
              <a:t>Results: </a:t>
            </a:r>
            <a:r>
              <a:rPr b="1" lang="en-US" sz="3200">
                <a:solidFill>
                  <a:srgbClr val="FF0000"/>
                </a:solidFill>
                <a:highlight>
                  <a:srgbClr val="FFFFFF"/>
                </a:highlight>
              </a:rPr>
              <a:t>Decision Tree Classifier</a:t>
            </a:r>
            <a:endParaRPr b="1" sz="320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g39681c68941_2_21"/>
          <p:cNvGraphicFramePr/>
          <p:nvPr/>
        </p:nvGraphicFramePr>
        <p:xfrm>
          <a:off x="1252750" y="256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{B9ADBD24-1411-4194-B645-D80E0E641AEF}</a:tableStyleId>
              </a:tblPr>
              <a:tblGrid>
                <a:gridCol w="3102400"/>
                <a:gridCol w="2316300"/>
                <a:gridCol w="2104575"/>
                <a:gridCol w="2163225"/>
              </a:tblGrid>
              <a:tr h="741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Dataset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Precision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1435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Recall</a:t>
                      </a:r>
                      <a:endParaRPr b="1" sz="2800"/>
                    </a:p>
                  </a:txBody>
                  <a:tcPr marT="91425" marB="91425" marR="91425" marL="571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F1-score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Raw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0.70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0.70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0.70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Clean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0.71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0.83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0.77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29e0d63de_1_36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Decision tree</a:t>
            </a:r>
            <a:endParaRPr/>
          </a:p>
        </p:txBody>
      </p:sp>
      <p:sp>
        <p:nvSpPr>
          <p:cNvPr id="314" name="Google Shape;314;g3d29e0d63de_1_36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g3d29e0d63de_1_36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16" name="Google Shape;316;g3d29e0d63de_1_36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7" name="Google Shape;317;g3d29e0d63de_1_36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g3d29e0d63de_1_36"/>
          <p:cNvSpPr txBox="1"/>
          <p:nvPr/>
        </p:nvSpPr>
        <p:spPr>
          <a:xfrm>
            <a:off x="272081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Raw Data</a:t>
            </a:r>
            <a:endParaRPr b="1" sz="3200">
              <a:solidFill>
                <a:srgbClr val="002060"/>
              </a:solidFill>
            </a:endParaRPr>
          </a:p>
        </p:txBody>
      </p:sp>
      <p:sp>
        <p:nvSpPr>
          <p:cNvPr id="319" name="Google Shape;319;g3d29e0d63de_1_36"/>
          <p:cNvSpPr txBox="1"/>
          <p:nvPr/>
        </p:nvSpPr>
        <p:spPr>
          <a:xfrm>
            <a:off x="6050368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 Clean Data</a:t>
            </a:r>
            <a:endParaRPr b="1" sz="3200">
              <a:solidFill>
                <a:srgbClr val="002060"/>
              </a:solidFill>
            </a:endParaRPr>
          </a:p>
        </p:txBody>
      </p:sp>
      <p:pic>
        <p:nvPicPr>
          <p:cNvPr id="320" name="Google Shape;320;g3d29e0d63de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2675" y="1116800"/>
            <a:ext cx="4937791" cy="42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g3d29e0d63de_1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25" y="1269180"/>
            <a:ext cx="4937800" cy="4214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29e0d63de_1_52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Decision tree</a:t>
            </a:r>
            <a:endParaRPr/>
          </a:p>
        </p:txBody>
      </p:sp>
      <p:sp>
        <p:nvSpPr>
          <p:cNvPr id="328" name="Google Shape;328;g3d29e0d63de_1_5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g3d29e0d63de_1_52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30" name="Google Shape;330;g3d29e0d63de_1_52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g3d29e0d63de_1_5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g3d29e0d63de_1_52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4250"/>
            <a:ext cx="5632429" cy="57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d29e0d63de_1_52" title="downlo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8425" y="744250"/>
            <a:ext cx="5632425" cy="574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681c68941_2_32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Results &amp; Future work</a:t>
            </a:r>
            <a:endParaRPr/>
          </a:p>
        </p:txBody>
      </p:sp>
      <p:sp>
        <p:nvSpPr>
          <p:cNvPr id="340" name="Google Shape;340;g39681c68941_2_32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g39681c68941_2_32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42" name="Google Shape;342;g39681c68941_2_32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9681c68941_2_32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g39681c68941_2_32"/>
          <p:cNvSpPr txBox="1"/>
          <p:nvPr/>
        </p:nvSpPr>
        <p:spPr>
          <a:xfrm>
            <a:off x="-266678" y="1313425"/>
            <a:ext cx="849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FF0000"/>
                </a:solidFill>
              </a:rPr>
              <a:t>          Results: </a:t>
            </a:r>
            <a:r>
              <a:rPr b="1" lang="en-US" sz="3200">
                <a:solidFill>
                  <a:srgbClr val="FF0000"/>
                </a:solidFill>
                <a:highlight>
                  <a:srgbClr val="FFFFFF"/>
                </a:highlight>
              </a:rPr>
              <a:t>Random</a:t>
            </a:r>
            <a:r>
              <a:rPr b="1" lang="en-US" sz="3200">
                <a:solidFill>
                  <a:srgbClr val="FF0000"/>
                </a:solidFill>
                <a:highlight>
                  <a:srgbClr val="FFFFFF"/>
                </a:highlight>
              </a:rPr>
              <a:t> Forest Classifier</a:t>
            </a:r>
            <a:endParaRPr b="1" sz="3200">
              <a:solidFill>
                <a:srgbClr val="FF0000"/>
              </a:solidFill>
            </a:endParaRPr>
          </a:p>
        </p:txBody>
      </p:sp>
      <p:graphicFrame>
        <p:nvGraphicFramePr>
          <p:cNvPr id="345" name="Google Shape;345;g39681c68941_2_32"/>
          <p:cNvGraphicFramePr/>
          <p:nvPr/>
        </p:nvGraphicFramePr>
        <p:xfrm>
          <a:off x="1252750" y="256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{B9ADBD24-1411-4194-B645-D80E0E641AEF}</a:tableStyleId>
              </a:tblPr>
              <a:tblGrid>
                <a:gridCol w="3102400"/>
                <a:gridCol w="2316300"/>
                <a:gridCol w="2104575"/>
                <a:gridCol w="2163225"/>
              </a:tblGrid>
              <a:tr h="741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Dataset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Precision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1435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Recall</a:t>
                      </a:r>
                      <a:endParaRPr b="1" sz="2800"/>
                    </a:p>
                  </a:txBody>
                  <a:tcPr marT="91425" marB="91425" marR="91425" marL="571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F1-score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Raw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0.75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1.00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0.86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Clean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0.73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</a:t>
                      </a:r>
                      <a:r>
                        <a:rPr lang="en-US" sz="2800"/>
                        <a:t>89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0.80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29e0d63de_1_66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Random forest</a:t>
            </a:r>
            <a:endParaRPr/>
          </a:p>
        </p:txBody>
      </p:sp>
      <p:sp>
        <p:nvSpPr>
          <p:cNvPr id="352" name="Google Shape;352;g3d29e0d63de_1_66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3d29e0d63de_1_66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54" name="Google Shape;354;g3d29e0d63de_1_66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g3d29e0d63de_1_66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g3d29e0d63de_1_66"/>
          <p:cNvSpPr txBox="1"/>
          <p:nvPr/>
        </p:nvSpPr>
        <p:spPr>
          <a:xfrm>
            <a:off x="272081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Raw Data</a:t>
            </a:r>
            <a:endParaRPr b="1" sz="3200">
              <a:solidFill>
                <a:srgbClr val="002060"/>
              </a:solidFill>
            </a:endParaRPr>
          </a:p>
        </p:txBody>
      </p:sp>
      <p:sp>
        <p:nvSpPr>
          <p:cNvPr id="357" name="Google Shape;357;g3d29e0d63de_1_66"/>
          <p:cNvSpPr txBox="1"/>
          <p:nvPr/>
        </p:nvSpPr>
        <p:spPr>
          <a:xfrm>
            <a:off x="6050368" y="5530200"/>
            <a:ext cx="527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rgbClr val="002060"/>
                </a:solidFill>
              </a:rPr>
              <a:t> Clean Data</a:t>
            </a:r>
            <a:endParaRPr b="1" sz="3200">
              <a:solidFill>
                <a:srgbClr val="002060"/>
              </a:solidFill>
            </a:endParaRPr>
          </a:p>
        </p:txBody>
      </p:sp>
      <p:pic>
        <p:nvPicPr>
          <p:cNvPr id="358" name="Google Shape;358;g3d29e0d63de_1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75" y="1116805"/>
            <a:ext cx="5249951" cy="421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d29e0d63de_1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088" y="1116800"/>
            <a:ext cx="5065475" cy="42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29e0d63de_1_80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Random forest</a:t>
            </a:r>
            <a:endParaRPr/>
          </a:p>
        </p:txBody>
      </p:sp>
      <p:sp>
        <p:nvSpPr>
          <p:cNvPr id="366" name="Google Shape;366;g3d29e0d63de_1_8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g3d29e0d63de_1_8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68" name="Google Shape;368;g3d29e0d63de_1_8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g3d29e0d63de_1_80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0" name="Google Shape;370;g3d29e0d63de_1_80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25" y="744250"/>
            <a:ext cx="5632429" cy="57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g3d29e0d63de_1_80" title="downlo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4026" y="744253"/>
            <a:ext cx="5632425" cy="574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29e0d63de_0_26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Results: Winning model</a:t>
            </a:r>
            <a:endParaRPr/>
          </a:p>
        </p:txBody>
      </p:sp>
      <p:sp>
        <p:nvSpPr>
          <p:cNvPr id="378" name="Google Shape;378;g3d29e0d63de_0_26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g3d29e0d63de_0_26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80" name="Google Shape;380;g3d29e0d63de_0_26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g3d29e0d63de_0_26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g3d29e0d63de_0_26"/>
          <p:cNvSpPr txBox="1"/>
          <p:nvPr/>
        </p:nvSpPr>
        <p:spPr>
          <a:xfrm>
            <a:off x="1468800" y="991375"/>
            <a:ext cx="99570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1F3B73"/>
                </a:solidFill>
              </a:rPr>
              <a:t>SVM / Decision tree for cleaned dataset !!!!</a:t>
            </a:r>
            <a:endParaRPr sz="3800">
              <a:solidFill>
                <a:srgbClr val="1F3B73"/>
              </a:solidFill>
            </a:endParaRPr>
          </a:p>
        </p:txBody>
      </p:sp>
      <p:graphicFrame>
        <p:nvGraphicFramePr>
          <p:cNvPr id="383" name="Google Shape;383;g3d29e0d63de_0_26"/>
          <p:cNvGraphicFramePr/>
          <p:nvPr/>
        </p:nvGraphicFramePr>
        <p:xfrm>
          <a:off x="1252750" y="256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{B9ADBD24-1411-4194-B645-D80E0E641AEF}</a:tableStyleId>
              </a:tblPr>
              <a:tblGrid>
                <a:gridCol w="3102400"/>
                <a:gridCol w="2316300"/>
                <a:gridCol w="2104575"/>
                <a:gridCol w="2163225"/>
              </a:tblGrid>
              <a:tr h="741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Model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Precision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51435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Recall</a:t>
                      </a:r>
                      <a:endParaRPr b="1" sz="2800"/>
                    </a:p>
                  </a:txBody>
                  <a:tcPr marT="91425" marB="91425" marR="91425" marL="5715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/>
                        <a:t>F1-score</a:t>
                      </a:r>
                      <a:endParaRPr b="1"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SVM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0.75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0.83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0.79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Decision tree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0.71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0.83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0.77</a:t>
                      </a:r>
                      <a:endParaRPr sz="2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9681c68941_0_1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Limitation</a:t>
            </a:r>
            <a:endParaRPr/>
          </a:p>
        </p:txBody>
      </p:sp>
      <p:sp>
        <p:nvSpPr>
          <p:cNvPr id="390" name="Google Shape;390;g39681c68941_0_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g39681c68941_0_1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392" name="Google Shape;392;g39681c68941_0_1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g39681c68941_0_1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g39681c68941_0_1"/>
          <p:cNvSpPr txBox="1"/>
          <p:nvPr/>
        </p:nvSpPr>
        <p:spPr>
          <a:xfrm>
            <a:off x="1032900" y="2017625"/>
            <a:ext cx="10126200" cy="27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Data preprocessing was the most challenging task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Struggled with cleaning EEG datasets (risk of losing important signals, noise not fully removed)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Models used were simple, mainly traditional machine learning methods.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Overfit and not so reliable accuracy</a:t>
            </a:r>
            <a:endParaRPr sz="2800">
              <a:solidFill>
                <a:srgbClr val="1F3B7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29e0d63de_0_15"/>
          <p:cNvSpPr txBox="1"/>
          <p:nvPr/>
        </p:nvSpPr>
        <p:spPr>
          <a:xfrm>
            <a:off x="0" y="15924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2060"/>
                </a:solidFill>
              </a:rPr>
              <a:t>Future work</a:t>
            </a:r>
            <a:endParaRPr/>
          </a:p>
        </p:txBody>
      </p:sp>
      <p:sp>
        <p:nvSpPr>
          <p:cNvPr id="401" name="Google Shape;401;g3d29e0d63de_0_15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g3d29e0d63de_0_15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403" name="Google Shape;403;g3d29e0d63de_0_15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g3d29e0d63de_0_15"/>
          <p:cNvSpPr txBox="1"/>
          <p:nvPr/>
        </p:nvSpPr>
        <p:spPr>
          <a:xfrm>
            <a:off x="-4527" y="6492250"/>
            <a:ext cx="18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g3d29e0d63de_0_15"/>
          <p:cNvSpPr txBox="1"/>
          <p:nvPr/>
        </p:nvSpPr>
        <p:spPr>
          <a:xfrm>
            <a:off x="1032900" y="2017625"/>
            <a:ext cx="10126200" cy="14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Try deep learning methods to improve prediction accuracy.</a:t>
            </a:r>
            <a:endParaRPr sz="2800">
              <a:solidFill>
                <a:srgbClr val="1F3B73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1F3B73"/>
              </a:buClr>
              <a:buSzPts val="2800"/>
              <a:buChar char="●"/>
            </a:pPr>
            <a:r>
              <a:rPr lang="en-US" sz="2800">
                <a:solidFill>
                  <a:srgbClr val="1F3B73"/>
                </a:solidFill>
              </a:rPr>
              <a:t>Deepen understanding of EEG medical terms to enhance preprocessing and data interpretation.</a:t>
            </a:r>
            <a:endParaRPr sz="2800">
              <a:solidFill>
                <a:srgbClr val="1F3B7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8910879" y="6492240"/>
            <a:ext cx="21706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Trong-Nghia Nguyen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1"/>
          <p:cNvSpPr txBox="1"/>
          <p:nvPr>
            <p:ph idx="12" type="sldNum"/>
          </p:nvPr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31"/>
          <p:cNvSpPr txBox="1"/>
          <p:nvPr/>
        </p:nvSpPr>
        <p:spPr>
          <a:xfrm>
            <a:off x="-4522" y="6492239"/>
            <a:ext cx="11593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1"/>
          <p:cNvSpPr txBox="1"/>
          <p:nvPr/>
        </p:nvSpPr>
        <p:spPr>
          <a:xfrm>
            <a:off x="158151" y="2224262"/>
            <a:ext cx="121920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31"/>
          <p:cNvSpPr txBox="1"/>
          <p:nvPr/>
        </p:nvSpPr>
        <p:spPr>
          <a:xfrm>
            <a:off x="8910879" y="6492240"/>
            <a:ext cx="217065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10</a:t>
            </a:r>
            <a:endParaRPr/>
          </a:p>
        </p:txBody>
      </p:sp>
      <p:sp>
        <p:nvSpPr>
          <p:cNvPr id="418" name="Google Shape;418;p31"/>
          <p:cNvSpPr txBox="1"/>
          <p:nvPr/>
        </p:nvSpPr>
        <p:spPr>
          <a:xfrm>
            <a:off x="9448800" y="651619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31"/>
          <p:cNvSpPr txBox="1"/>
          <p:nvPr/>
        </p:nvSpPr>
        <p:spPr>
          <a:xfrm>
            <a:off x="-4527" y="6492250"/>
            <a:ext cx="2570746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Time-series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1"/>
          <p:cNvSpPr txBox="1"/>
          <p:nvPr/>
        </p:nvSpPr>
        <p:spPr>
          <a:xfrm>
            <a:off x="5293700" y="4273525"/>
            <a:ext cx="192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u="sng">
                <a:solidFill>
                  <a:schemeClr val="hlink"/>
                </a:solidFill>
                <a:hlinkClick r:id="rId3"/>
              </a:rPr>
              <a:t>Link GitHub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  <dc:creator>Hi</dc:creator>
</cp:coreProperties>
</file>